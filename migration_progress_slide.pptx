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LITE Segment</c:v>
                </c:pt>
              </c:strCache>
            </c:strRef>
          </c:tx>
          <c:spPr>
            <a:solidFill>
              <a:srgbClr val="1B4F8A"/>
            </a:solidFill>
          </c:spPr>
          <c:cat>
            <c:strRef>
              <c:f>Sheet1!$A$2:$A$3</c:f>
              <c:strCache>
                <c:ptCount val="2"/>
                <c:pt idx="0">
                  <c:v>June 8th</c:v>
                </c:pt>
                <c:pt idx="1">
                  <c:v>June 15th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</c:v>
                </c:pt>
                <c:pt idx="1">
                  <c:v>840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SMB Segment</c:v>
                </c:pt>
              </c:strCache>
            </c:strRef>
          </c:tx>
          <c:spPr>
            <a:solidFill>
              <a:srgbClr val="2E9E5B"/>
            </a:solidFill>
          </c:spPr>
          <c:cat>
            <c:strRef>
              <c:f>Sheet1!$A$2:$A$3</c:f>
              <c:strCache>
                <c:ptCount val="2"/>
                <c:pt idx="0">
                  <c:v>June 8th</c:v>
                </c:pt>
                <c:pt idx="1">
                  <c:v>June 15th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717</c:v>
                </c:pt>
                <c:pt idx="1">
                  <c:v>1810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Accounts</c:v>
                </c:pt>
              </c:strCache>
            </c:strRef>
          </c:tx>
          <c:spPr>
            <a:ln w="31750">
              <a:solidFill>
                <a:srgbClr val="2E9E5B"/>
              </a:solidFill>
            </a:ln>
          </c:spPr>
          <c:marker>
            <c:size val="8"/>
            <c:spPr>
              <a:solidFill>
                <a:srgbClr val="2E9E5B"/>
              </a:solidFill>
            </c:spPr>
          </c:marker>
          <c:cat>
            <c:strRef>
              <c:f>Sheet1!$A$2:$A$3</c:f>
              <c:strCache>
                <c:ptCount val="2"/>
                <c:pt idx="0">
                  <c:v>June 8th</c:v>
                </c:pt>
                <c:pt idx="1">
                  <c:v>June 15th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1097</c:v>
                </c:pt>
                <c:pt idx="1">
                  <c:v>2650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</a:defRPr>
            </a:pPr>
            <a:r>
              <a:t>Existing Accounts Migration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17320"/>
            <a:ext cx="3787444" cy="201168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84724" y="1417320"/>
            <a:ext cx="2192731" cy="20116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77455" y="1417320"/>
            <a:ext cx="3986785" cy="20116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5628" y="1408176"/>
            <a:ext cx="219456" cy="219456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E293B"/>
                </a:solidFill>
              </a:defRPr>
            </a:pPr>
            <a:r>
              <a:t>June 8th</a:t>
            </a:r>
          </a:p>
        </p:txBody>
      </p:sp>
      <p:sp>
        <p:nvSpPr>
          <p:cNvPr id="9" name="Oval 8"/>
          <p:cNvSpPr/>
          <p:nvPr/>
        </p:nvSpPr>
        <p:spPr>
          <a:xfrm>
            <a:off x="7077456" y="1408176"/>
            <a:ext cx="219456" cy="21945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E293B"/>
                </a:solidFill>
              </a:defRPr>
            </a:pPr>
            <a:r>
              <a:t>June 15th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011680"/>
          <a:ext cx="56692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31520" y="5486400"/>
          <a:ext cx="5669280" cy="1097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589520" y="2011680"/>
            <a:ext cx="4114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945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June 8th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</a:defRPr>
            </a:pPr>
            <a:r>
              <a:t>Total Accounts: 1,097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88036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4F8A"/>
                </a:solidFill>
              </a:defRPr>
            </a:pPr>
            <a:r>
              <a:t>LITE Segment: 380 (34.6%)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5468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9E5B"/>
                </a:solidFill>
              </a:defRPr>
            </a:pPr>
            <a:r>
              <a:t>SMB Segment: 717 (65.4%)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2900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CA3AF"/>
                </a:solidFill>
              </a:defRPr>
            </a:pPr>
            <a:r>
              <a:t>Mid-Market: 0 (0.0%)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840480"/>
            <a:ext cx="1298664" cy="164592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1064" y="3840480"/>
            <a:ext cx="2450376" cy="164592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0" y="4434840"/>
            <a:ext cx="4114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293B"/>
                </a:solidFill>
              </a:defRPr>
            </a:pPr>
            <a:r>
              <a:t>June 15th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98348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9E5B"/>
                </a:solidFill>
              </a:defRPr>
            </a:pPr>
            <a:r>
              <a:t>↑ +141.6%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0352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</a:defRPr>
            </a:pPr>
            <a:r>
              <a:t>Total Accounts: 2,650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62356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4F8A"/>
                </a:solidFill>
              </a:defRPr>
            </a:pPr>
            <a:r>
              <a:t>LITE Segment: 840 (31.7%)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89788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E9E5B"/>
                </a:solidFill>
              </a:defRPr>
            </a:pPr>
            <a:r>
              <a:t>SMB Segment: 1,810 (68.3%)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17220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CA3AF"/>
                </a:solidFill>
              </a:defRPr>
            </a:pPr>
            <a:r>
              <a:t>Mid-Market: Pending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6583680"/>
            <a:ext cx="1188374" cy="164592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0774" y="6583680"/>
            <a:ext cx="2560666" cy="164592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1B4F8A"/>
                </a:solidFill>
              </a:defRPr>
            </a:pPr>
            <a:r>
              <a:t>Guesty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