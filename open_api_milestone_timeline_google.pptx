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293B"/>
                </a:solidFill>
              </a:defRPr>
            </a:pPr>
            <a:r>
              <a:t>Open API — Milestone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</a:defRPr>
            </a:pPr>
            <a:r>
              <a:t>Jul 2026 → Mar 2027  ·  Green = New Users  ·  Blue = Existing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</a:defRPr>
            </a:pPr>
            <a:r>
              <a:t>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1E293B"/>
                </a:solidFill>
              </a:defRPr>
            </a:pPr>
            <a:r>
              <a:t>Mar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97480"/>
            <a:ext cx="9966960" cy="128016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4186123" cy="1280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83403" y="2697480"/>
            <a:ext cx="5780837" cy="128016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514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E293B"/>
                </a:solidFill>
              </a:defRPr>
            </a:pPr>
            <a:r>
              <a:t>Open API</a:t>
            </a:r>
            <a:br/>
            <a:r>
              <a:t>Milestones</a:t>
            </a:r>
          </a:p>
        </p:txBody>
      </p:sp>
      <p:sp>
        <p:nvSpPr>
          <p:cNvPr id="11" name="Oval 10"/>
          <p:cNvSpPr/>
          <p:nvPr/>
        </p:nvSpPr>
        <p:spPr>
          <a:xfrm>
            <a:off x="1495044" y="2660904"/>
            <a:ext cx="201168" cy="201168"/>
          </a:xfrm>
          <a:prstGeom prst="ellipse">
            <a:avLst/>
          </a:prstGeom>
          <a:solidFill>
            <a:srgbClr val="2E9E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2E9E5B"/>
                </a:solidFill>
              </a:defRPr>
            </a:pPr>
            <a:r>
              <a:t>Early Q3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" y="2450592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" y="250545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E9E5B"/>
                </a:solidFill>
              </a:defRPr>
            </a:pPr>
            <a:r>
              <a:t>New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" y="270662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2E9E5B"/>
                </a:solidFill>
              </a:defRPr>
            </a:pPr>
            <a:r>
              <a:t>Block API usage by registration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" y="30175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By registration date, block API usage for new users</a:t>
            </a:r>
          </a:p>
        </p:txBody>
      </p:sp>
      <p:sp>
        <p:nvSpPr>
          <p:cNvPr id="17" name="Oval 16"/>
          <p:cNvSpPr/>
          <p:nvPr/>
        </p:nvSpPr>
        <p:spPr>
          <a:xfrm>
            <a:off x="5182819" y="2660904"/>
            <a:ext cx="201168" cy="201168"/>
          </a:xfrm>
          <a:prstGeom prst="ellipse">
            <a:avLst/>
          </a:prstGeom>
          <a:solidFill>
            <a:srgbClr val="1B4F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9043" y="30175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Beginning of Sept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4683" y="320040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4411" y="3255264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</a:defRPr>
            </a:pPr>
            <a:r>
              <a:t>Existing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4411" y="34564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Automated email to migrated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4411" y="376732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Start sending automated email to migrated users</a:t>
            </a:r>
          </a:p>
        </p:txBody>
      </p:sp>
      <p:sp>
        <p:nvSpPr>
          <p:cNvPr id="23" name="Oval 22"/>
          <p:cNvSpPr/>
          <p:nvPr/>
        </p:nvSpPr>
        <p:spPr>
          <a:xfrm>
            <a:off x="6179515" y="2660904"/>
            <a:ext cx="201168" cy="201168"/>
          </a:xfrm>
          <a:prstGeom prst="ellipse">
            <a:avLst/>
          </a:prstGeom>
          <a:solidFill>
            <a:srgbClr val="1B4F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5739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End of September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1379" y="2450592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1107" y="250545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</a:defRPr>
            </a:pPr>
            <a:r>
              <a:t>Existing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1107" y="270662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Communication to all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1107" y="30175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Sending communication to all users</a:t>
            </a:r>
          </a:p>
        </p:txBody>
      </p:sp>
      <p:sp>
        <p:nvSpPr>
          <p:cNvPr id="29" name="Oval 28"/>
          <p:cNvSpPr/>
          <p:nvPr/>
        </p:nvSpPr>
        <p:spPr>
          <a:xfrm>
            <a:off x="10465308" y="2660904"/>
            <a:ext cx="201168" cy="201168"/>
          </a:xfrm>
          <a:prstGeom prst="ellipse">
            <a:avLst/>
          </a:prstGeom>
          <a:solidFill>
            <a:srgbClr val="1B4F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1532" y="30175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EO March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7172" y="320040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6900" y="3255264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</a:defRPr>
            </a:pPr>
            <a:r>
              <a:t>Existing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900" y="34564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Deprecation of old Open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6900" y="376732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End of deprecation period for old OAPI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182880" cy="18288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</a:defRPr>
            </a:pPr>
            <a:r>
              <a:t>New Users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989320"/>
            <a:ext cx="182880" cy="1828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</a:defRPr>
            </a:pPr>
            <a:r>
              <a:t>Existing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B4F8A"/>
                </a:solidFill>
              </a:defRPr>
            </a:pPr>
            <a:r>
              <a:t>Guesty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6263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9E5B"/>
                </a:solidFill>
              </a:defRPr>
            </a:pPr>
            <a:r>
              <a:t>Slide 2: Milestone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Milestone Data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Edit this table, then update the timeline slide to match.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463040"/>
                <a:gridCol w="3200400"/>
                <a:gridCol w="3749039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 Label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Title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9E5B"/>
                          </a:solidFill>
                        </a:defRPr>
                      </a:pPr>
                      <a:r>
                        <a:t>New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 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API usage by registration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By registration date, block API usage for new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Beginning of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Automated email to migrated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Start sending automated email to migrated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of 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Communication to 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Sending communication to all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27,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EO March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Deprecation of old 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of deprecation period for old OAPI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</a:defRPr>
            </a:pPr>
            <a:r>
              <a:t>Timeline span: Jul 2026 → Mar 2027</a:t>
            </a:r>
            <a:br/>
            <a:br/>
            <a:r>
              <a:t>New Users</a:t>
            </a:r>
            <a:br/>
            <a:r>
              <a:t>  • Early Q3 — Block API usage by registration date</a:t>
            </a:r>
            <a:br/>
            <a:br/>
            <a:r>
              <a:t>Existing Users</a:t>
            </a:r>
            <a:br/>
            <a:r>
              <a:t>  • Beginning of Sept — Automated email to migrated users</a:t>
            </a:r>
            <a:br/>
            <a:r>
              <a:t>  • End of September — Communication to all users</a:t>
            </a:r>
            <a:br/>
            <a:r>
              <a:t>  • EO March 27 — Deprecation of old Open API (OAPI)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