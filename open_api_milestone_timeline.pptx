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1E293B"/>
                </a:solidFill>
              </a:defRPr>
            </a:pPr>
            <a:r>
              <a:t>Open API — Milestone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4748B"/>
                </a:solidFill>
              </a:defRPr>
            </a:pPr>
            <a:r>
              <a:t>Jul 2026 → Mar 2027  ·  Click any text box or table cell to edit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E293B"/>
                </a:solidFill>
              </a:defRPr>
            </a:pPr>
            <a:r>
              <a:t>Jul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1E293B"/>
                </a:solidFill>
              </a:defRPr>
            </a:pPr>
            <a:r>
              <a:t>Mar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83080"/>
            <a:ext cx="777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2E9E5B"/>
                </a:solidFill>
              </a:defRPr>
            </a:pPr>
            <a:r>
              <a:t>New</a:t>
            </a:r>
            <a:br/>
            <a:r>
              <a:t>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148840"/>
            <a:ext cx="9966960" cy="109728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148840"/>
            <a:ext cx="498348" cy="10972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95044" y="2103120"/>
            <a:ext cx="201168" cy="20116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1268" y="18470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2E9E5B"/>
                </a:solidFill>
              </a:defRPr>
            </a:pPr>
            <a:r>
              <a:t>Early Q3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" y="233172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" y="2404872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2E9E5B"/>
                </a:solidFill>
              </a:defRPr>
            </a:pPr>
            <a:r>
              <a:t>Block API usage by registration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" y="2715768"/>
            <a:ext cx="21579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1E293B"/>
                </a:solidFill>
              </a:defRPr>
            </a:pPr>
            <a:r>
              <a:t>By registration date, block API usage for new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703319"/>
            <a:ext cx="777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B4F8A"/>
                </a:solidFill>
              </a:defRPr>
            </a:pPr>
            <a:r>
              <a:t>Existing</a:t>
            </a:r>
            <a:br/>
            <a:r>
              <a:t>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069079"/>
            <a:ext cx="9966960" cy="109728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4069079"/>
            <a:ext cx="9468612" cy="109728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82819" y="4023359"/>
            <a:ext cx="201168" cy="201168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9043" y="376732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B4F8A"/>
                </a:solidFill>
              </a:defRPr>
            </a:pPr>
            <a:r>
              <a:t>Beginning of Sept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4683" y="4251959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4411" y="4325111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B4F8A"/>
                </a:solidFill>
              </a:defRPr>
            </a:pPr>
            <a:r>
              <a:t>Automated email to migrated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4411" y="4636007"/>
            <a:ext cx="21579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1E293B"/>
                </a:solidFill>
              </a:defRPr>
            </a:pPr>
            <a:r>
              <a:t>Start sending automated email to migrated users</a:t>
            </a:r>
          </a:p>
        </p:txBody>
      </p:sp>
      <p:sp>
        <p:nvSpPr>
          <p:cNvPr id="23" name="Oval 22"/>
          <p:cNvSpPr/>
          <p:nvPr/>
        </p:nvSpPr>
        <p:spPr>
          <a:xfrm>
            <a:off x="6179515" y="4023359"/>
            <a:ext cx="201168" cy="201168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85739" y="376732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B4F8A"/>
                </a:solidFill>
              </a:defRPr>
            </a:pPr>
            <a:r>
              <a:t>End of September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91379" y="4251959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01107" y="4325111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B4F8A"/>
                </a:solidFill>
              </a:defRPr>
            </a:pPr>
            <a:r>
              <a:t>Communication to all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1107" y="4636007"/>
            <a:ext cx="21579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1E293B"/>
                </a:solidFill>
              </a:defRPr>
            </a:pPr>
            <a:r>
              <a:t>Sending communication to all users</a:t>
            </a:r>
          </a:p>
        </p:txBody>
      </p:sp>
      <p:sp>
        <p:nvSpPr>
          <p:cNvPr id="28" name="Oval 27"/>
          <p:cNvSpPr/>
          <p:nvPr/>
        </p:nvSpPr>
        <p:spPr>
          <a:xfrm>
            <a:off x="10465308" y="4023359"/>
            <a:ext cx="201168" cy="201168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71532" y="376732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B4F8A"/>
                </a:solidFill>
              </a:defRPr>
            </a:pPr>
            <a:r>
              <a:t>EO March 27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7172" y="4251959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86900" y="4325111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B4F8A"/>
                </a:solidFill>
              </a:defRPr>
            </a:pPr>
            <a:r>
              <a:t>Deprecation of old Open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6900" y="4636007"/>
            <a:ext cx="21579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1E293B"/>
                </a:solidFill>
              </a:defRPr>
            </a:pPr>
            <a:r>
              <a:t>End of deprecation period for old OAPI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5989320"/>
            <a:ext cx="182880" cy="18288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</a:defRPr>
            </a:pPr>
            <a:r>
              <a:t>New Users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989320"/>
            <a:ext cx="182880" cy="1828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E293B"/>
                </a:solidFill>
              </a:defRPr>
            </a:pPr>
            <a:r>
              <a:t>Existing 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263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B4F8A"/>
                </a:solidFill>
              </a:defRPr>
            </a:pPr>
            <a:r>
              <a:t>Guesty</a:t>
            </a:r>
          </a:p>
        </p:txBody>
      </p:sp>
      <p:sp>
        <p:nvSpPr>
          <p:cNvPr id="38" name="Rounded Rectangle 37">
            <a:hlinkClick action="ppaction://hlinksldjump" r:id="rId2"/>
          </p:cNvPr>
          <p:cNvSpPr/>
          <p:nvPr/>
        </p:nvSpPr>
        <p:spPr>
          <a:xfrm>
            <a:off x="9601200" y="6263640"/>
            <a:ext cx="2103120" cy="365760"/>
          </a:xfrm>
          <a:prstGeom prst="roundRect">
            <a:avLst>
              <a:gd name="adj" fmla="val 40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✎ Edit milestone data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E293B"/>
                </a:solidFill>
              </a:defRPr>
            </a:pPr>
            <a:r>
              <a:t>Milestone Data (Editable)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</a:defRPr>
            </a:pPr>
            <a:r>
              <a:t>Edit this table, then update the timeline slide to match.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3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371600"/>
                <a:gridCol w="1463040"/>
                <a:gridCol w="3200400"/>
                <a:gridCol w="3749039"/>
              </a:tblGrid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Date Label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Milestone Title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E9E5B"/>
                          </a:solidFill>
                        </a:defRPr>
                      </a:pPr>
                      <a:r>
                        <a:t>New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Early Q3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Early 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Block API usage by registration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By registration date, block API usage for new users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Existing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Sep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Beginning of Sept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Automated email to migrated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Start sending automated email to migrated users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Existing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Sep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End of September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Communication to all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Sending communication to all users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Existing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 27,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EO March 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Deprecation of old Open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End of deprecation period for old OAPI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E293B"/>
                </a:solidFill>
              </a:defRPr>
            </a:pPr>
            <a:r>
              <a:t>Timeline span: Jul 2026 → Mar 2027</a:t>
            </a:r>
            <a:br/>
            <a:br/>
            <a:r>
              <a:t>New Users</a:t>
            </a:r>
            <a:br/>
            <a:r>
              <a:t>  • Early Q3 — Block API usage by registration date</a:t>
            </a:r>
            <a:br/>
            <a:br/>
            <a:r>
              <a:t>Existing Users</a:t>
            </a:r>
            <a:br/>
            <a:r>
              <a:t>  • Beginning of Sept — Automated email to migrated users</a:t>
            </a:r>
            <a:br/>
            <a:r>
              <a:t>  • End of September — Communication to all users</a:t>
            </a:r>
            <a:br/>
            <a:r>
              <a:t>  • EO March 27 — Deprecation of old Open API (OAPI)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