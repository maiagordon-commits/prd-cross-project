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5F"/>
                </a:solidFill>
                <a:latin typeface="Arial"/>
              </a:rPr>
              <a:t>Room Migration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777240"/>
            <a:ext cx="2560320" cy="347472"/>
          </a:xfrm>
          <a:prstGeom prst="roundRect">
            <a:avLst>
              <a:gd name="adj" fmla="val 12000"/>
            </a:avLst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B3A5F"/>
                </a:solidFill>
                <a:latin typeface="Arial"/>
              </a:rPr>
              <a:t>July 13 - July 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56032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B3A5F"/>
                </a:solidFill>
                <a:latin typeface="Arial"/>
              </a:rPr>
              <a:t>Total Accounts Created</a:t>
            </a:r>
          </a:p>
          <a:p>
            <a:pPr algn="ctr"/>
            <a:r>
              <a:rPr sz="2800" b="1">
                <a:solidFill>
                  <a:srgbClr val="1B3A5F"/>
                </a:solidFill>
                <a:latin typeface="Arial"/>
              </a:rPr>
              <a:t>2,876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51760" cy="960120"/>
          </a:xfrm>
          <a:prstGeom prst="roundRect">
            <a:avLst>
              <a:gd name="adj" fmla="val 12000"/>
            </a:avLst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B3A5F"/>
                </a:solidFill>
                <a:latin typeface="Arial"/>
              </a:rPr>
              <a:t>SMB</a:t>
            </a:r>
          </a:p>
          <a:p>
            <a:pPr algn="ctr"/>
            <a:r>
              <a:rPr sz="2400" b="1">
                <a:solidFill>
                  <a:srgbClr val="1B3A5F"/>
                </a:solidFill>
                <a:latin typeface="Arial"/>
              </a:rPr>
              <a:t>161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371600"/>
            <a:ext cx="2651760" cy="960120"/>
          </a:xfrm>
          <a:prstGeom prst="roundRect">
            <a:avLst>
              <a:gd name="adj" fmla="val 12000"/>
            </a:avLst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B3A5F"/>
                </a:solidFill>
                <a:latin typeface="Arial"/>
              </a:rPr>
              <a:t>Mid-Market</a:t>
            </a:r>
          </a:p>
          <a:p>
            <a:pPr algn="ctr"/>
            <a:r>
              <a:rPr sz="2400" b="1">
                <a:solidFill>
                  <a:srgbClr val="1B3A5F"/>
                </a:solidFill>
                <a:latin typeface="Arial"/>
              </a:rPr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2651760" cy="960120"/>
          </a:xfrm>
          <a:prstGeom prst="roundRect">
            <a:avLst>
              <a:gd name="adj" fmla="val 12000"/>
            </a:avLst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B3A5F"/>
                </a:solidFill>
                <a:latin typeface="Arial"/>
              </a:rPr>
              <a:t>SME</a:t>
            </a:r>
          </a:p>
          <a:p>
            <a:pPr algn="ctr"/>
            <a:r>
              <a:rPr sz="2400" b="1">
                <a:solidFill>
                  <a:srgbClr val="1B3A5F"/>
                </a:solidFill>
                <a:latin typeface="Arial"/>
              </a:rPr>
              <a:t>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371600"/>
            <a:ext cx="2651760" cy="960120"/>
          </a:xfrm>
          <a:prstGeom prst="roundRect">
            <a:avLst>
              <a:gd name="adj" fmla="val 12000"/>
            </a:avLst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B3A5F"/>
                </a:solidFill>
                <a:latin typeface="Arial"/>
              </a:rPr>
              <a:t>Unknown</a:t>
            </a:r>
          </a:p>
          <a:p>
            <a:pPr algn="ctr"/>
            <a:r>
              <a:rPr sz="2400" b="1">
                <a:solidFill>
                  <a:srgbClr val="1B3A5F"/>
                </a:solidFill>
                <a:latin typeface="Arial"/>
              </a:rPr>
              <a:t>2,715</a:t>
            </a:r>
          </a:p>
          <a:p>
            <a:pPr algn="ctr"/>
            <a:r>
              <a:rPr sz="900" b="0">
                <a:solidFill>
                  <a:srgbClr val="6B7C93"/>
                </a:solidFill>
                <a:latin typeface="Arial"/>
              </a:rPr>
              <a:t>161 from Room CSV</a:t>
            </a:r>
          </a:p>
        </p:txBody>
      </p:sp>
      <p:pic>
        <p:nvPicPr>
          <p:cNvPr id="10" name="Picture 9" descr="room-migration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06040"/>
            <a:ext cx="1115568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