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1E293B"/>
                </a:solidFill>
              </a:defRPr>
            </a:pPr>
            <a:r>
              <a:t>Reservation Migration Plan — Weekly Progress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08760"/>
            <a:ext cx="1636014" cy="201168"/>
          </a:xfrm>
          <a:prstGeom prst="roundRect">
            <a:avLst>
              <a:gd name="adj" fmla="val 50000"/>
            </a:avLst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74876" y="1536192"/>
            <a:ext cx="201168" cy="201168"/>
          </a:xfrm>
          <a:prstGeom prst="ellips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01368"/>
            <a:ext cx="172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1E293B"/>
                </a:solidFill>
              </a:defRPr>
            </a:pPr>
            <a:r>
              <a:t>Jun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722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1">
                <a:solidFill>
                  <a:srgbClr val="1E293B"/>
                </a:solidFill>
              </a:defRPr>
            </a:pPr>
            <a:r>
              <a:t>Migration kickoff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36520" y="1508760"/>
            <a:ext cx="1636014" cy="20116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396996" y="1536192"/>
            <a:ext cx="201168" cy="201168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6520" y="1801368"/>
            <a:ext cx="172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1E293B"/>
                </a:solidFill>
              </a:defRPr>
            </a:pPr>
            <a:r>
              <a:t>Jun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6520" y="2011680"/>
            <a:ext cx="1722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1E293B"/>
                </a:solidFill>
              </a:defRPr>
            </a:pPr>
            <a:r>
              <a:t>LITE + SMB rollout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8640" y="1508760"/>
            <a:ext cx="1636014" cy="20116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119116" y="1536192"/>
            <a:ext cx="201168" cy="201168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8640" y="1801368"/>
            <a:ext cx="172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1E293B"/>
                </a:solidFill>
              </a:defRPr>
            </a:pPr>
            <a:r>
              <a:t>Jun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8640" y="2011680"/>
            <a:ext cx="1722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1E293B"/>
                </a:solidFill>
              </a:defRPr>
            </a:pPr>
            <a:r>
              <a:t>Accelerated migration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508760"/>
            <a:ext cx="1636014" cy="201168"/>
          </a:xfrm>
          <a:prstGeom prst="roundRect">
            <a:avLst>
              <a:gd name="adj" fmla="val 50000"/>
            </a:avLst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41236" y="1536192"/>
            <a:ext cx="201168" cy="201168"/>
          </a:xfrm>
          <a:prstGeom prst="ellips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1801368"/>
            <a:ext cx="172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1E293B"/>
                </a:solidFill>
              </a:defRPr>
            </a:pPr>
            <a:r>
              <a:t>Jun 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011680"/>
            <a:ext cx="1722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1">
                <a:solidFill>
                  <a:srgbClr val="1E293B"/>
                </a:solidFill>
              </a:defRPr>
            </a:pPr>
            <a:r>
              <a:t>Mid-Market onboarding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02880" y="1508760"/>
            <a:ext cx="1636014" cy="201168"/>
          </a:xfrm>
          <a:prstGeom prst="roundRect">
            <a:avLst>
              <a:gd name="adj" fmla="val 50000"/>
            </a:avLst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63356" y="1536192"/>
            <a:ext cx="201168" cy="201168"/>
          </a:xfrm>
          <a:prstGeom prst="ellips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02880" y="1801368"/>
            <a:ext cx="172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1E293B"/>
                </a:solidFill>
              </a:defRPr>
            </a:pPr>
            <a:r>
              <a:t>Jun 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2880" y="2011680"/>
            <a:ext cx="1722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1">
                <a:solidFill>
                  <a:srgbClr val="1E293B"/>
                </a:solidFill>
              </a:defRPr>
            </a:pPr>
            <a:r>
              <a:t>Full segment coverage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25000" y="1508760"/>
            <a:ext cx="1636014" cy="201168"/>
          </a:xfrm>
          <a:prstGeom prst="roundRect">
            <a:avLst>
              <a:gd name="adj" fmla="val 50000"/>
            </a:avLst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85476" y="1536192"/>
            <a:ext cx="201168" cy="201168"/>
          </a:xfrm>
          <a:prstGeom prst="ellipse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25000" y="1801368"/>
            <a:ext cx="172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1E293B"/>
                </a:solidFill>
              </a:defRPr>
            </a:pPr>
            <a:r>
              <a:t>Jul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5000" y="2011680"/>
            <a:ext cx="1722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1">
                <a:solidFill>
                  <a:srgbClr val="1E293B"/>
                </a:solidFill>
              </a:defRPr>
            </a:pPr>
            <a:r>
              <a:t>GA readiness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3727" y="214884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6607" y="2286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2E9E5B"/>
                </a:solidFill>
              </a:defRPr>
            </a:pPr>
            <a:r>
              <a:t>Current Total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6607" y="26060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1E293B"/>
                </a:solidFill>
              </a:defRPr>
            </a:pPr>
            <a:r>
              <a:t>2,650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6607" y="3108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9CA3AF"/>
                </a:solidFill>
              </a:defRPr>
            </a:pPr>
            <a:r>
              <a:t>As of Jun 15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58487" y="214884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41367" y="2286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B4F8A"/>
                </a:solidFill>
              </a:defRPr>
            </a:pPr>
            <a:r>
              <a:t>Week-over-Week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1367" y="26060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1E293B"/>
                </a:solidFill>
              </a:defRPr>
            </a:pPr>
            <a:r>
              <a:t>+141.6%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41367" y="3108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9CA3AF"/>
                </a:solidFill>
              </a:defRPr>
            </a:pPr>
            <a:r>
              <a:t>Jun 8 → Jun 15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53247" y="2148840"/>
            <a:ext cx="34747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6127" y="22860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9CA3AF"/>
                </a:solidFill>
              </a:defRPr>
            </a:pPr>
            <a:r>
              <a:t>Progress to Goal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6127" y="26060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1E293B"/>
                </a:solidFill>
              </a:defRPr>
            </a:pPr>
            <a:r>
              <a:t>31.2%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6127" y="3108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9CA3AF"/>
                </a:solidFill>
              </a:defRPr>
            </a:pPr>
            <a:r>
              <a:t>Target: 8,500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0907" y="5680252"/>
            <a:ext cx="1554480" cy="80467"/>
          </a:xfrm>
          <a:prstGeom prst="roundRect">
            <a:avLst>
              <a:gd name="adj" fmla="val 15000"/>
            </a:avLst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60907" y="5626608"/>
            <a:ext cx="1554480" cy="53644"/>
          </a:xfrm>
          <a:prstGeom prst="roundRect">
            <a:avLst>
              <a:gd name="adj" fmla="val 15000"/>
            </a:avLst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0907" y="5833871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1E293B"/>
                </a:solidFill>
              </a:defRPr>
            </a:pPr>
            <a:r>
              <a:t>500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0907" y="352043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CA3AF"/>
                </a:solidFill>
              </a:defRPr>
            </a:pPr>
            <a:r>
              <a:t>○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43987" y="5568403"/>
            <a:ext cx="1554480" cy="192316"/>
          </a:xfrm>
          <a:prstGeom prst="roundRect">
            <a:avLst>
              <a:gd name="adj" fmla="val 15000"/>
            </a:avLst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643987" y="5466478"/>
            <a:ext cx="1554480" cy="101925"/>
          </a:xfrm>
          <a:prstGeom prst="roundRect">
            <a:avLst>
              <a:gd name="adj" fmla="val 15000"/>
            </a:avLst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43987" y="5833871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1E293B"/>
                </a:solidFill>
              </a:defRPr>
            </a:pPr>
            <a:r>
              <a:t>1,097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43987" y="352043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2E9E5B"/>
                </a:solidFill>
              </a:defRPr>
            </a:pPr>
            <a:r>
              <a:t>✓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427067" y="5275234"/>
            <a:ext cx="1554480" cy="485485"/>
          </a:xfrm>
          <a:prstGeom prst="roundRect">
            <a:avLst>
              <a:gd name="adj" fmla="val 15000"/>
            </a:avLst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427067" y="5049926"/>
            <a:ext cx="1554480" cy="225308"/>
          </a:xfrm>
          <a:prstGeom prst="roundRect">
            <a:avLst>
              <a:gd name="adj" fmla="val 15000"/>
            </a:avLst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27067" y="5833871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1E293B"/>
                </a:solidFill>
              </a:defRPr>
            </a:pPr>
            <a:r>
              <a:t>2,650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27067" y="352043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2E9E5B"/>
                </a:solidFill>
              </a:defRPr>
            </a:pPr>
            <a:r>
              <a:t>✓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10147" y="5626607"/>
            <a:ext cx="1554480" cy="134112"/>
          </a:xfrm>
          <a:prstGeom prst="roundRect">
            <a:avLst>
              <a:gd name="adj" fmla="val 15000"/>
            </a:avLst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210147" y="4956047"/>
            <a:ext cx="1554480" cy="670560"/>
          </a:xfrm>
          <a:prstGeom prst="roundRect">
            <a:avLst>
              <a:gd name="adj" fmla="val 15000"/>
            </a:avLst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210147" y="4634179"/>
            <a:ext cx="1554480" cy="321868"/>
          </a:xfrm>
          <a:prstGeom prst="roundRect">
            <a:avLst>
              <a:gd name="adj" fmla="val 15000"/>
            </a:avLst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0147" y="5833871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1E293B"/>
                </a:solidFill>
              </a:defRPr>
            </a:pPr>
            <a:r>
              <a:t>4,200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0147" y="352043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CA3AF"/>
                </a:solidFill>
              </a:defRPr>
            </a:pPr>
            <a:r>
              <a:t>○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993227" y="5572963"/>
            <a:ext cx="1554480" cy="187756"/>
          </a:xfrm>
          <a:prstGeom prst="roundRect">
            <a:avLst>
              <a:gd name="adj" fmla="val 15000"/>
            </a:avLst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993227" y="4634179"/>
            <a:ext cx="1554480" cy="938784"/>
          </a:xfrm>
          <a:prstGeom prst="roundRect">
            <a:avLst>
              <a:gd name="adj" fmla="val 15000"/>
            </a:avLst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993227" y="4205021"/>
            <a:ext cx="1554480" cy="429158"/>
          </a:xfrm>
          <a:prstGeom prst="roundRect">
            <a:avLst>
              <a:gd name="adj" fmla="val 15000"/>
            </a:avLst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93227" y="5833871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1E293B"/>
                </a:solidFill>
              </a:defRPr>
            </a:pPr>
            <a:r>
              <a:t>5,800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93227" y="352043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CA3AF"/>
                </a:solidFill>
              </a:defRPr>
            </a:pPr>
            <a:r>
              <a:t>○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776307" y="5492495"/>
            <a:ext cx="1554480" cy="268224"/>
          </a:xfrm>
          <a:prstGeom prst="roundRect">
            <a:avLst>
              <a:gd name="adj" fmla="val 15000"/>
            </a:avLst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776307" y="4285487"/>
            <a:ext cx="1554480" cy="1207008"/>
          </a:xfrm>
          <a:prstGeom prst="roundRect">
            <a:avLst>
              <a:gd name="adj" fmla="val 15000"/>
            </a:avLst>
          </a:prstGeom>
          <a:solidFill>
            <a:srgbClr val="2E9E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776307" y="3749039"/>
            <a:ext cx="1554480" cy="536448"/>
          </a:xfrm>
          <a:prstGeom prst="roundRect">
            <a:avLst>
              <a:gd name="adj" fmla="val 15000"/>
            </a:avLst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76307" y="5833871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1E293B"/>
                </a:solidFill>
              </a:defRPr>
            </a:pPr>
            <a:r>
              <a:t>7,500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76307" y="3520439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CA3AF"/>
                </a:solidFill>
              </a:defRPr>
            </a:pPr>
            <a:r>
              <a:t>○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6263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1">
                <a:solidFill>
                  <a:srgbClr val="1B4F8A"/>
                </a:solidFill>
              </a:defRPr>
            </a:pPr>
            <a:r>
              <a:t>Guesty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800" y="6263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9CA3AF"/>
                </a:solidFill>
              </a:defRPr>
            </a:pPr>
            <a:r>
              <a:t>○ Planned   ✓ Actual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E293B"/>
                </a:solidFill>
              </a:defRPr>
            </a:pPr>
            <a:r>
              <a:t>Weekly Schedule Data (Editable)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58782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Label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LITE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SMB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Mid-Market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4F8A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Jun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Week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Migration kickoff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planned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Jun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Week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LITE + SMB rollout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actual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Jun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Week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Accelerated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actual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Jun 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Week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Mid-Market onboarding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planned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Jun 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Week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Full segment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planned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Jul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Week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GA readiness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planned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486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9CA3AF"/>
                </a:solidFill>
              </a:defRPr>
            </a:pPr>
            <a:r>
              <a:t>Edit the table above to update the chart. Final target: 8,500 accounts.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