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1E293B"/>
                </a:solidFill>
              </a:defRPr>
            </a:pPr>
            <a:r>
              <a:t>Existing Accounts Migration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00200"/>
            <a:ext cx="3296412" cy="256032"/>
          </a:xfrm>
          <a:prstGeom prst="roundRect">
            <a:avLst>
              <a:gd name="adj" fmla="val 50000"/>
            </a:avLst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68012" y="1600200"/>
            <a:ext cx="2354580" cy="256032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22592" y="1600200"/>
            <a:ext cx="3767328" cy="256032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8332" y="1600200"/>
            <a:ext cx="256032" cy="256032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5412" y="198424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</a:defRPr>
            </a:pPr>
            <a:r>
              <a:t>June 8th</a:t>
            </a:r>
          </a:p>
        </p:txBody>
      </p:sp>
      <p:sp>
        <p:nvSpPr>
          <p:cNvPr id="9" name="Oval 8"/>
          <p:cNvSpPr/>
          <p:nvPr/>
        </p:nvSpPr>
        <p:spPr>
          <a:xfrm>
            <a:off x="6834225" y="1600200"/>
            <a:ext cx="256032" cy="256032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1305" y="198424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E293B"/>
                </a:solidFill>
              </a:defRPr>
            </a:pPr>
            <a:r>
              <a:t>June 15th</a:t>
            </a:r>
          </a:p>
        </p:txBody>
      </p:sp>
      <p:sp>
        <p:nvSpPr>
          <p:cNvPr id="11" name="Oval 10"/>
          <p:cNvSpPr/>
          <p:nvPr/>
        </p:nvSpPr>
        <p:spPr>
          <a:xfrm>
            <a:off x="10036454" y="1600200"/>
            <a:ext cx="256032" cy="256032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66647" y="2423160"/>
            <a:ext cx="475488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6687" y="26974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293B"/>
                </a:solidFill>
              </a:defRPr>
            </a:pPr>
            <a:r>
              <a:t>June 8th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6687" y="3200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E293B"/>
                </a:solidFill>
              </a:defRPr>
            </a:pPr>
            <a:r>
              <a:t>Total Accounts: 1,097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6687" y="370332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4F8A"/>
                </a:solidFill>
              </a:defRPr>
            </a:pPr>
            <a:r>
              <a:t>LITE Segment: 380 (34.6%)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6687" y="408736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9E5B"/>
                </a:solidFill>
              </a:defRPr>
            </a:pPr>
            <a:r>
              <a:t>SMB Segment: 717 (65.4%)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6687" y="447141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9CA3AF"/>
                </a:solidFill>
              </a:defRPr>
            </a:pPr>
            <a:r>
              <a:t>Mid-Market: 0 (0.0%)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86687" y="4974336"/>
            <a:ext cx="1425363" cy="201168"/>
          </a:xfrm>
          <a:prstGeom prst="roundRect">
            <a:avLst>
              <a:gd name="adj" fmla="val 20000"/>
            </a:avLst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12050" y="4974336"/>
            <a:ext cx="2689437" cy="201168"/>
          </a:xfrm>
          <a:prstGeom prst="roundRect">
            <a:avLst>
              <a:gd name="adj" fmla="val 20000"/>
            </a:avLst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70167" y="2423160"/>
            <a:ext cx="475488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0207" y="26974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293B"/>
                </a:solidFill>
              </a:defRPr>
            </a:pPr>
            <a:r>
              <a:t>June 15th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90207" y="3200400"/>
            <a:ext cx="1005840" cy="320040"/>
          </a:xfrm>
          <a:prstGeom prst="roundRect">
            <a:avLst>
              <a:gd name="adj" fmla="val 30000"/>
            </a:avLst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+141.6%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0207" y="3657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E293B"/>
                </a:solidFill>
              </a:defRPr>
            </a:pPr>
            <a:r>
              <a:t>Total Accounts: 2,650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0207" y="416052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4F8A"/>
                </a:solidFill>
              </a:defRPr>
            </a:pPr>
            <a:r>
              <a:t>LITE Segment: 840 (31.7%)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0207" y="454456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E9E5B"/>
                </a:solidFill>
              </a:defRPr>
            </a:pPr>
            <a:r>
              <a:t>SMB Segment: 1,810 (68.3%)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0207" y="492861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9CA3AF"/>
                </a:solidFill>
              </a:defRPr>
            </a:pPr>
            <a:r>
              <a:t>Mid-Market: Pending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90207" y="5431536"/>
            <a:ext cx="1304313" cy="201168"/>
          </a:xfrm>
          <a:prstGeom prst="roundRect">
            <a:avLst>
              <a:gd name="adj" fmla="val 20000"/>
            </a:avLst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94520" y="5431536"/>
            <a:ext cx="2810487" cy="201168"/>
          </a:xfrm>
          <a:prstGeom prst="roundRect">
            <a:avLst>
              <a:gd name="adj" fmla="val 20000"/>
            </a:avLst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263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1">
                <a:solidFill>
                  <a:srgbClr val="1B4F8A"/>
                </a:solidFill>
              </a:defRPr>
            </a:pPr>
            <a:r>
              <a:t>Guesty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E293B"/>
                </a:solidFill>
              </a:defRPr>
            </a:pPr>
            <a:r>
              <a:t>Migration Data (Editable)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Total Accounts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LITE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SMB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Mid-Market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Change %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June 8th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1,097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380 (34.6%)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717 (65.4%)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 (0.0%)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June 15th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2,650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840 (31.7%)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1,810 (68.3%)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+141.6%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2918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9CA3AF"/>
                </a:solidFill>
              </a:defRPr>
            </a:pPr>
            <a:r>
              <a:t>Edit the table above, then update the visual slide to match.</a:t>
            </a:r>
            <a:br/>
            <a:r>
              <a:t>Tip: In Google Slides, click any text box or table cell to edit directly.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