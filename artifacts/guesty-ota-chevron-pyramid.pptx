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A1E36"/>
                </a:solidFill>
                <a:latin typeface="Arial"/>
              </a:rPr>
              <a:t>Guesty OTA Distribution Pyramid</a:t>
            </a:r>
          </a:p>
        </p:txBody>
      </p:sp>
      <p:sp>
        <p:nvSpPr>
          <p:cNvPr id="4" name="Right Triangle 3"/>
          <p:cNvSpPr/>
          <p:nvPr/>
        </p:nvSpPr>
        <p:spPr>
          <a:xfrm>
            <a:off x="502920" y="1051560"/>
            <a:ext cx="2560320" cy="4892040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73352"/>
            <a:ext cx="3154680" cy="749808"/>
          </a:xfrm>
          <a:prstGeom prst="rect">
            <a:avLst/>
          </a:prstGeom>
          <a:gradFill rotWithShape="1">
            <a:gsLst>
              <a:gs pos="0">
                <a:srgbClr val="0A1E36"/>
              </a:gs>
              <a:gs pos="100000">
                <a:srgbClr val="0F2A4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5400000">
            <a:off x="3639312" y="1673352"/>
            <a:ext cx="521208" cy="749808"/>
          </a:xfrm>
          <a:prstGeom prst="triangle">
            <a:avLst/>
          </a:prstGeom>
          <a:gradFill rotWithShape="1">
            <a:gsLst>
              <a:gs pos="0">
                <a:srgbClr val="0A1E36"/>
              </a:gs>
              <a:gs pos="100000">
                <a:srgbClr val="0F2A4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719072"/>
            <a:ext cx="640080" cy="6583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46504"/>
            <a:ext cx="502920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A1E36"/>
                </a:solidFill>
                <a:latin typeface="Arial"/>
              </a:rPr>
              <a:t>Foundations</a:t>
            </a:r>
          </a:p>
          <a:p>
            <a:r>
              <a:rPr sz="1100" b="0">
                <a:solidFill>
                  <a:srgbClr val="666666"/>
                </a:solidFill>
                <a:latin typeface="Arial"/>
              </a:rPr>
              <a:t>Channel manager &amp; real-time calendar sync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78024"/>
            <a:ext cx="3794760" cy="749808"/>
          </a:xfrm>
          <a:prstGeom prst="rect">
            <a:avLst/>
          </a:prstGeom>
          <a:gradFill rotWithShape="1">
            <a:gsLst>
              <a:gs pos="0">
                <a:srgbClr val="123A5C"/>
              </a:gs>
              <a:gs pos="100000">
                <a:srgbClr val="18456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4279392" y="2478024"/>
            <a:ext cx="521208" cy="749808"/>
          </a:xfrm>
          <a:prstGeom prst="triangle">
            <a:avLst/>
          </a:prstGeom>
          <a:gradFill rotWithShape="1">
            <a:gsLst>
              <a:gs pos="0">
                <a:srgbClr val="123A5C"/>
              </a:gs>
              <a:gs pos="100000">
                <a:srgbClr val="18456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87752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Niche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523744"/>
            <a:ext cx="640080" cy="6583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51176"/>
            <a:ext cx="502920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A5C"/>
                </a:solidFill>
                <a:latin typeface="Arial"/>
              </a:rPr>
              <a:t>Niche OTAs</a:t>
            </a:r>
          </a:p>
          <a:p>
            <a:r>
              <a:rPr sz="1100" b="0">
                <a:solidFill>
                  <a:srgbClr val="666666"/>
                </a:solidFill>
                <a:latin typeface="Arial"/>
              </a:rPr>
              <a:t>Marriott • Hopper • Expedia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82696"/>
            <a:ext cx="4434840" cy="749808"/>
          </a:xfrm>
          <a:prstGeom prst="rect">
            <a:avLst/>
          </a:prstGeom>
          <a:gradFill rotWithShape="1">
            <a:gsLst>
              <a:gs pos="0">
                <a:srgbClr val="1E5A8A"/>
              </a:gs>
              <a:gs pos="100000">
                <a:srgbClr val="286A9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4919472" y="3282696"/>
            <a:ext cx="521208" cy="749808"/>
          </a:xfrm>
          <a:prstGeom prst="triangle">
            <a:avLst/>
          </a:prstGeom>
          <a:gradFill rotWithShape="1">
            <a:gsLst>
              <a:gs pos="0">
                <a:srgbClr val="1E5A8A"/>
              </a:gs>
              <a:gs pos="100000">
                <a:srgbClr val="286A9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92424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Expand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28416"/>
            <a:ext cx="640080" cy="6583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355848"/>
            <a:ext cx="502920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5A8A"/>
                </a:solidFill>
                <a:latin typeface="Arial"/>
              </a:rPr>
              <a:t>Expand Reach</a:t>
            </a:r>
          </a:p>
          <a:p>
            <a:r>
              <a:rPr sz="1100" b="0">
                <a:solidFill>
                  <a:srgbClr val="666666"/>
                </a:solidFill>
                <a:latin typeface="Arial"/>
              </a:rPr>
              <a:t>Booking.com for international demand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87368"/>
            <a:ext cx="5074920" cy="749808"/>
          </a:xfrm>
          <a:prstGeom prst="rect">
            <a:avLst/>
          </a:prstGeom>
          <a:gradFill rotWithShape="1">
            <a:gsLst>
              <a:gs pos="0">
                <a:srgbClr val="2E7BC4"/>
              </a:gs>
              <a:gs pos="100000">
                <a:srgbClr val="3A8FD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5559552" y="4087368"/>
            <a:ext cx="521208" cy="749808"/>
          </a:xfrm>
          <a:prstGeom prst="triangle">
            <a:avLst/>
          </a:prstGeom>
          <a:gradFill rotWithShape="1">
            <a:gsLst>
              <a:gs pos="0">
                <a:srgbClr val="2E7BC4"/>
              </a:gs>
              <a:gs pos="100000">
                <a:srgbClr val="3A8FD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133088"/>
            <a:ext cx="640080" cy="6583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60520"/>
            <a:ext cx="502920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7BC4"/>
                </a:solidFill>
                <a:latin typeface="Arial"/>
              </a:rPr>
              <a:t>Essential OTAs</a:t>
            </a:r>
          </a:p>
          <a:p>
            <a:r>
              <a:rPr sz="1100" b="0">
                <a:solidFill>
                  <a:srgbClr val="666666"/>
                </a:solidFill>
                <a:latin typeface="Arial"/>
              </a:rPr>
              <a:t>Airbnb • Vrbo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892040"/>
            <a:ext cx="5715000" cy="749808"/>
          </a:xfrm>
          <a:prstGeom prst="rect">
            <a:avLst/>
          </a:prstGeom>
          <a:gradFill rotWithShape="1">
            <a:gsLst>
              <a:gs pos="0">
                <a:srgbClr val="5EC4DC"/>
              </a:gs>
              <a:gs pos="100000">
                <a:srgbClr val="7AD8E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5400000">
            <a:off x="6199632" y="4892040"/>
            <a:ext cx="521208" cy="749808"/>
          </a:xfrm>
          <a:prstGeom prst="triangle">
            <a:avLst/>
          </a:prstGeom>
          <a:gradFill rotWithShape="1">
            <a:gsLst>
              <a:gs pos="0">
                <a:srgbClr val="5EC4DC"/>
              </a:gs>
              <a:gs pos="100000">
                <a:srgbClr val="7AD8E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001768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Lead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937760"/>
            <a:ext cx="640080" cy="6583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965192"/>
            <a:ext cx="502920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AA8C0"/>
                </a:solidFill>
                <a:latin typeface="Arial"/>
              </a:rPr>
              <a:t>Direct Booking</a:t>
            </a:r>
          </a:p>
          <a:p>
            <a:r>
              <a:rPr sz="1100" b="0">
                <a:solidFill>
                  <a:srgbClr val="666666"/>
                </a:solidFill>
                <a:latin typeface="Arial"/>
              </a:rPr>
              <a:t>Commission-free repeat guest revenue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