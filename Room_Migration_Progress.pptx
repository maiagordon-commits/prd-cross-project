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5F"/>
                </a:solidFill>
                <a:latin typeface="Arial"/>
              </a:rPr>
              <a:t>Room Migration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822960"/>
            <a:ext cx="2560320" cy="347472"/>
          </a:xfrm>
          <a:prstGeom prst="roundRect">
            <a:avLst>
              <a:gd name="adj" fmla="val 12000"/>
            </a:avLst>
          </a:prstGeom>
          <a:solidFill>
            <a:srgbClr val="E4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July 13 - July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320040"/>
            <a:ext cx="384048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Total Accounts Created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161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417320"/>
            <a:ext cx="2926080" cy="100584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Lite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156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417320"/>
            <a:ext cx="2926080" cy="100584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Pro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5</a:t>
            </a:r>
          </a:p>
          <a:p>
            <a:pPr algn="ctr"/>
            <a:r>
              <a:rPr sz="1000" b="0">
                <a:solidFill>
                  <a:srgbClr val="6B7C93"/>
                </a:solidFill>
                <a:latin typeface="Arial"/>
              </a:rPr>
              <a:t>Out of them 0 Mid Market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417320"/>
            <a:ext cx="2926080" cy="100584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Enterprise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0</a:t>
            </a:r>
          </a:p>
        </p:txBody>
      </p:sp>
      <p:pic>
        <p:nvPicPr>
          <p:cNvPr id="9" name="Picture 8" descr="room-migration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51760"/>
            <a:ext cx="111556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5F"/>
                </a:solidFill>
                <a:latin typeface="Arial"/>
              </a:rPr>
              <a:t>Accounts Created After July 13 — Segment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C93"/>
                </a:solidFill>
                <a:latin typeface="Arial"/>
              </a:rPr>
              <a:t>Matched room accounts: 161  ·  July 13 - July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1155680" cy="45720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5F"/>
                </a:solidFill>
                <a:latin typeface="Arial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5361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5F"/>
                </a:solidFill>
                <a:latin typeface="Arial"/>
              </a:rPr>
              <a:t>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361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5F"/>
                </a:solidFill>
                <a:latin typeface="Arial"/>
              </a:rPr>
              <a:t>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5361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5F"/>
                </a:solidFill>
                <a:latin typeface="Arial"/>
              </a:rPr>
              <a:t>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5F"/>
                </a:solidFill>
                <a:latin typeface="Arial"/>
              </a:rPr>
              <a:t>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3A5F"/>
                </a:solidFill>
                <a:latin typeface="Arial"/>
              </a:rPr>
              <a:t>SMB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5F"/>
                </a:solidFill>
                <a:latin typeface="Arial"/>
              </a:rPr>
              <a:t>161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3A5F"/>
                </a:solidFill>
                <a:latin typeface="Arial"/>
              </a:rPr>
              <a:t>156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3A5F"/>
                </a:solidFill>
                <a:latin typeface="Arial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057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3A5F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5F"/>
                </a:solidFill>
                <a:latin typeface="Arial"/>
              </a:rPr>
              <a:t>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651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5F"/>
                </a:solidFill>
                <a:latin typeface="Arial"/>
              </a:rPr>
              <a:t>161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651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5F"/>
                </a:solidFill>
                <a:latin typeface="Arial"/>
              </a:rPr>
              <a:t>156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651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5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26517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5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