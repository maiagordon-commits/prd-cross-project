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Arial"/>
              </a:rPr>
              <a:t>Guesty OTA Distribution Pyramid</a:t>
            </a:r>
          </a:p>
        </p:txBody>
      </p:sp>
      <p:sp>
        <p:nvSpPr>
          <p:cNvPr id="4" name="Trapezoid 3"/>
          <p:cNvSpPr/>
          <p:nvPr/>
        </p:nvSpPr>
        <p:spPr>
          <a:xfrm>
            <a:off x="1798167" y="4434840"/>
            <a:ext cx="8595360" cy="1783080"/>
          </a:xfrm>
          <a:prstGeom prst="trapezoid">
            <a:avLst/>
          </a:prstGeom>
          <a:gradFill rotWithShape="1">
            <a:gsLst>
              <a:gs pos="0">
                <a:srgbClr val="245578"/>
              </a:gs>
              <a:gs pos="100000">
                <a:srgbClr val="122E48"/>
              </a:gs>
            </a:gsLst>
            <a:lin scaled="0" ang="5400000"/>
          </a:gra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5263" y="4787798"/>
            <a:ext cx="201168" cy="292608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08979" y="4860950"/>
            <a:ext cx="64008" cy="64008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3843" y="4860950"/>
            <a:ext cx="64008" cy="64008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18707" y="4860950"/>
            <a:ext cx="64008" cy="64008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8167" y="5183733"/>
            <a:ext cx="8595360" cy="8915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TIER 3 — MAXIMIZE MARGIN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Direct Booking • Niche OTAs (Marriott, Hopper, Expedia)</a:t>
            </a:r>
          </a:p>
        </p:txBody>
      </p:sp>
      <p:sp>
        <p:nvSpPr>
          <p:cNvPr id="10" name="Trapezoid 9"/>
          <p:cNvSpPr/>
          <p:nvPr/>
        </p:nvSpPr>
        <p:spPr>
          <a:xfrm>
            <a:off x="3261207" y="2862072"/>
            <a:ext cx="5669280" cy="1508760"/>
          </a:xfrm>
          <a:prstGeom prst="trapezoid">
            <a:avLst/>
          </a:prstGeom>
          <a:gradFill rotWithShape="1">
            <a:gsLst>
              <a:gs pos="0">
                <a:srgbClr val="5B9FCF"/>
              </a:gs>
              <a:gs pos="100000">
                <a:srgbClr val="3D7FB5"/>
              </a:gs>
            </a:gsLst>
            <a:lin scaled="0" ang="5400000"/>
          </a:gra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31255" y="3083356"/>
            <a:ext cx="329184" cy="329184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6119" y="3302812"/>
            <a:ext cx="219456" cy="109728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1207" y="3495751"/>
            <a:ext cx="5669280" cy="7543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TIER 2 — EXPAND REACH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Booking.com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4541367" y="1472184"/>
            <a:ext cx="3108960" cy="1325880"/>
          </a:xfrm>
          <a:prstGeom prst="triangle">
            <a:avLst/>
          </a:prstGeom>
          <a:gradFill rotWithShape="1">
            <a:gsLst>
              <a:gs pos="0">
                <a:srgbClr val="95DCD2"/>
              </a:gs>
              <a:gs pos="100000">
                <a:srgbClr val="62C4B8"/>
              </a:gs>
            </a:gsLst>
            <a:lin scaled="0" ang="5400000"/>
          </a:gra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5935827" y="1683410"/>
            <a:ext cx="320040" cy="320040"/>
          </a:xfrm>
          <a:prstGeom prst="star5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2029053"/>
            <a:ext cx="3108960" cy="6629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TIER 1 — ESSENTIAL OTAs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Airbnb • Vrbo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