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WAU</c:v>
                </c:pt>
              </c:strCache>
            </c:strRef>
          </c:tx>
          <c:cat>
            <c:strRef>
              <c:f>Sheet1!$A$2:$A$14</c:f>
              <c:strCache>
                <c:ptCount val="13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</c:v>
                </c:pt>
                <c:pt idx="1">
                  <c:v>55</c:v>
                </c:pt>
                <c:pt idx="2">
                  <c:v>62</c:v>
                </c:pt>
                <c:pt idx="3">
                  <c:v>70</c:v>
                </c:pt>
                <c:pt idx="4">
                  <c:v>74</c:v>
                </c:pt>
                <c:pt idx="5">
                  <c:v>88</c:v>
                </c:pt>
                <c:pt idx="6">
                  <c:v>796</c:v>
                </c:pt>
                <c:pt idx="7">
                  <c:v>812</c:v>
                </c:pt>
                <c:pt idx="8">
                  <c:v>745</c:v>
                </c:pt>
                <c:pt idx="9">
                  <c:v>868</c:v>
                </c:pt>
                <c:pt idx="10">
                  <c:v>885</c:v>
                </c:pt>
                <c:pt idx="11">
                  <c:v>778</c:v>
                </c:pt>
                <c:pt idx="12">
                  <c:v>486</c:v>
                </c:pt>
              </c:numCache>
            </c:numRef>
          </c:val>
          <c:smooth val="0"/>
          <c:spPr>
            <a:ln w="19050">
              <a:solidFill>
                <a:srgbClr val="0D9B8A"/>
              </a:solidFill>
            </a:ln>
          </c:spPr>
          <c:marker>
            <c:symbol val="circle"/>
            <c:size val="7"/>
            <c:spPr>
              <a:solidFill>
                <a:srgbClr val="0D9B8A"/>
              </a:solidFill>
              <a:ln w="12700">
                <a:solidFill>
                  <a:srgbClr val="FFFFFF"/>
                </a:solidFill>
              </a:ln>
            </c:spPr>
          </c:marker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5E0D8"/>
            </a:solidFill>
          </a:ln>
        </c:spPr>
        <c:txPr>
          <a:bodyPr/>
          <a:lstStyle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5486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1A2B4A"/>
                </a:solidFill>
                <a:latin typeface="Georgia"/>
              </a:rPr>
              <a:t>Data Co-Pilot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65836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Usage summary · Q2 2026 · Source: Data Copilot Usage Report 2026-07-15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5156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0D8"/>
            </a:solidFill>
          </a:ln>
          <a:effectLst>
            <a:outerShdw blurRad="50800" dist="38100" dir="2700000" algn="tl" rotWithShape="0">
              <a:srgbClr val="1A2B4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216152"/>
            <a:ext cx="23957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0D9B8A"/>
                </a:solidFill>
                <a:latin typeface="Calibri"/>
              </a:rPr>
              <a:t>21,410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1709928"/>
            <a:ext cx="243230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Q2 Total Queries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4408" y="105156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0D8"/>
            </a:solidFill>
          </a:ln>
          <a:effectLst>
            <a:outerShdw blurRad="50800" dist="38100" dir="2700000" algn="tl" rotWithShape="0">
              <a:srgbClr val="1A2B4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0712" y="1216152"/>
            <a:ext cx="23957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5B8C5A"/>
                </a:solidFill>
                <a:latin typeface="Calibri"/>
              </a:rPr>
              <a:t>3,876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1709928"/>
            <a:ext cx="243230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Q2 Unique Users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17336" y="105156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0D8"/>
            </a:solidFill>
          </a:ln>
          <a:effectLst>
            <a:outerShdw blurRad="50800" dist="38100" dir="2700000" algn="tl" rotWithShape="0">
              <a:srgbClr val="1A2B4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216152"/>
            <a:ext cx="23957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3B82F6"/>
                </a:solidFill>
                <a:latin typeface="Calibri"/>
              </a:rPr>
              <a:t>885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1709928"/>
            <a:ext cx="243230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Peak WAU (Post-GA)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0264" y="1051560"/>
            <a:ext cx="26517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0D8"/>
            </a:solidFill>
          </a:ln>
          <a:effectLst>
            <a:outerShdw blurRad="50800" dist="38100" dir="2700000" algn="tl" rotWithShape="0">
              <a:srgbClr val="1A2B4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6568" y="1216152"/>
            <a:ext cx="23957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C9A227"/>
                </a:solidFill>
                <a:latin typeface="Calibri"/>
              </a:rPr>
              <a:t>3,220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1709928"/>
            <a:ext cx="243230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Unique Accounts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331720"/>
            <a:ext cx="745236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0C8"/>
            </a:solidFill>
          </a:ln>
          <a:effectLst>
            <a:outerShdw blurRad="50800" dist="38100" dir="2700000" algn="tl" rotWithShape="0">
              <a:srgbClr val="1A2B4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2496312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1A2B4A"/>
                </a:solidFill>
                <a:latin typeface="Georgia"/>
              </a:rPr>
              <a:t>Weekly Active Users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94360" y="2880360"/>
          <a:ext cx="713232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8138160" y="23317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0D8"/>
            </a:solidFill>
          </a:ln>
          <a:effectLst>
            <a:outerShdw blurRad="50800" dist="38100" dir="2700000" algn="tl" rotWithShape="0">
              <a:srgbClr val="1A2B4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4464" y="2423160"/>
            <a:ext cx="335584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A2B4A"/>
                </a:solidFill>
                <a:latin typeface="Calibri"/>
              </a:rPr>
              <a:t>Pre-GA (Apr 1 – May 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660904"/>
            <a:ext cx="822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1A2B4A"/>
                </a:solidFill>
                <a:latin typeface="Calibri"/>
              </a:rPr>
              <a:t>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770632"/>
            <a:ext cx="2468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avg WAU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081528"/>
            <a:ext cx="3319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</a:rPr>
              <a:t>1,862 total queries · max 88 WAU in the final pre-GA week.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7033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E6F7F4"/>
          </a:solidFill>
          <a:ln w="15875">
            <a:solidFill>
              <a:srgbClr val="0D9B8A"/>
            </a:solidFill>
          </a:ln>
          <a:effectLst>
            <a:outerShdw blurRad="50800" dist="38100" dir="2700000" algn="tl" rotWithShape="0">
              <a:srgbClr val="1A2B4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3794760"/>
            <a:ext cx="335584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A2B4A"/>
                </a:solidFill>
                <a:latin typeface="Calibri"/>
              </a:rPr>
              <a:t>GA Launch (May 18)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4032504"/>
            <a:ext cx="822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D9B8A"/>
                </a:solidFill>
                <a:latin typeface="Calibri"/>
              </a:rPr>
              <a:t>796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4142232"/>
            <a:ext cx="2468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WAU (launch week)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4453128"/>
            <a:ext cx="3319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</a:rPr>
              <a:t>11x surge (88 → 796) · 5,176 queries in 7 days — a record.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50749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0D8"/>
            </a:solidFill>
          </a:ln>
          <a:effectLst>
            <a:outerShdw blurRad="50800" dist="38100" dir="2700000" algn="tl" rotWithShape="0">
              <a:srgbClr val="1A2B4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4464" y="5166360"/>
            <a:ext cx="335584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A2B4A"/>
                </a:solidFill>
                <a:latin typeface="Calibri"/>
              </a:rPr>
              <a:t>Post-GA (May 22 – Jun 26)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5404104"/>
            <a:ext cx="822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1A2B4A"/>
                </a:solidFill>
                <a:latin typeface="Calibri"/>
              </a:rPr>
              <a:t>885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5513832"/>
            <a:ext cx="2468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peak WAU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5824728"/>
            <a:ext cx="3319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</a:rPr>
              <a:t>Avg 767 · 730–885 across 5 of 6 weeks · Jun 26 dipped to 486.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