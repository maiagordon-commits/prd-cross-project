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E293B"/>
                </a:solidFill>
                <a:latin typeface="Arial"/>
              </a:defRPr>
            </a:pPr>
            <a:r>
              <a:t>Open API — Milestone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  <a:latin typeface="Arial"/>
              </a:defRPr>
            </a:pPr>
            <a:r>
              <a:t>Jul 2026 → Mar 2027 · Green = New Users · Blue = Existing Users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1704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117043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Mar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234440" y="1920240"/>
            <a:ext cx="9829800" cy="16459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1920240"/>
            <a:ext cx="2265604" cy="164592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00044" y="1920240"/>
            <a:ext cx="7564196" cy="164592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173736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1E293B"/>
                </a:solidFill>
                <a:latin typeface="Arial"/>
              </a:defRPr>
            </a:pPr>
            <a:r>
              <a:t>Open API</a:t>
            </a:r>
            <a:br/>
            <a:r>
              <a:t>Milestones</a:t>
            </a:r>
          </a:p>
        </p:txBody>
      </p:sp>
      <p:sp>
        <p:nvSpPr>
          <p:cNvPr id="10" name="Oval 9"/>
          <p:cNvSpPr/>
          <p:nvPr/>
        </p:nvSpPr>
        <p:spPr>
          <a:xfrm>
            <a:off x="1143000" y="1883664"/>
            <a:ext cx="182880" cy="182880"/>
          </a:xfrm>
          <a:prstGeom prst="ellipse">
            <a:avLst/>
          </a:prstGeom>
          <a:solidFill>
            <a:srgbClr val="2E9E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716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2E9E5B"/>
                </a:solidFill>
                <a:latin typeface="Arial"/>
              </a:defRPr>
            </a:pPr>
            <a:r>
              <a:t>Early Q3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" y="146304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9E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" y="151790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2E9E5B"/>
                </a:solidFill>
                <a:latin typeface="Arial"/>
              </a:defRPr>
            </a:pPr>
            <a:r>
              <a:t>New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" y="171907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E293B"/>
                </a:solidFill>
                <a:latin typeface="Arial"/>
              </a:defRPr>
            </a:pPr>
            <a:r>
              <a:t>Block API usage by registration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" y="202996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64748B"/>
                </a:solidFill>
                <a:latin typeface="Arial"/>
              </a:defRPr>
            </a:pPr>
            <a:r>
              <a:t>By registration date, block API usage for new users</a:t>
            </a:r>
          </a:p>
        </p:txBody>
      </p:sp>
      <p:sp>
        <p:nvSpPr>
          <p:cNvPr id="16" name="Oval 15"/>
          <p:cNvSpPr/>
          <p:nvPr/>
        </p:nvSpPr>
        <p:spPr>
          <a:xfrm>
            <a:off x="3408604" y="1883664"/>
            <a:ext cx="182880" cy="182880"/>
          </a:xfrm>
          <a:prstGeom prst="ellipse">
            <a:avLst/>
          </a:prstGeom>
          <a:solidFill>
            <a:srgbClr val="1B4F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05684" y="22402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  <a:latin typeface="Arial"/>
              </a:defRPr>
            </a:pPr>
            <a:r>
              <a:t>Beginning of Sept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4184" y="242316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25624" y="247802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B4F8A"/>
                </a:solidFill>
                <a:latin typeface="Arial"/>
              </a:defRPr>
            </a:pPr>
            <a:r>
              <a:t>Existing Users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5624" y="267919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E293B"/>
                </a:solidFill>
                <a:latin typeface="Arial"/>
              </a:defRPr>
            </a:pPr>
            <a:r>
              <a:t>Automated email to migrated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5624" y="299008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64748B"/>
                </a:solidFill>
                <a:latin typeface="Arial"/>
              </a:defRPr>
            </a:pPr>
            <a:r>
              <a:t>Start sending automated email to migrated users</a:t>
            </a:r>
          </a:p>
        </p:txBody>
      </p:sp>
      <p:sp>
        <p:nvSpPr>
          <p:cNvPr id="22" name="Oval 21"/>
          <p:cNvSpPr/>
          <p:nvPr/>
        </p:nvSpPr>
        <p:spPr>
          <a:xfrm>
            <a:off x="4175986" y="1883664"/>
            <a:ext cx="182880" cy="182880"/>
          </a:xfrm>
          <a:prstGeom prst="ellipse">
            <a:avLst/>
          </a:prstGeom>
          <a:solidFill>
            <a:srgbClr val="1B4F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3066" y="137160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  <a:latin typeface="Arial"/>
              </a:defRPr>
            </a:pPr>
            <a:r>
              <a:t>End of September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1566" y="146304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93006" y="151790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B4F8A"/>
                </a:solidFill>
                <a:latin typeface="Arial"/>
              </a:defRPr>
            </a:pPr>
            <a:r>
              <a:t>Existing Users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3006" y="171907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E293B"/>
                </a:solidFill>
                <a:latin typeface="Arial"/>
              </a:defRPr>
            </a:pPr>
            <a:r>
              <a:t>Communication to all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3006" y="202996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64748B"/>
                </a:solidFill>
                <a:latin typeface="Arial"/>
              </a:defRPr>
            </a:pPr>
            <a:r>
              <a:t>Sending communication to all users</a:t>
            </a:r>
          </a:p>
        </p:txBody>
      </p:sp>
      <p:sp>
        <p:nvSpPr>
          <p:cNvPr id="28" name="Oval 27"/>
          <p:cNvSpPr/>
          <p:nvPr/>
        </p:nvSpPr>
        <p:spPr>
          <a:xfrm>
            <a:off x="10972800" y="1883664"/>
            <a:ext cx="182880" cy="182880"/>
          </a:xfrm>
          <a:prstGeom prst="ellipse">
            <a:avLst/>
          </a:prstGeom>
          <a:solidFill>
            <a:srgbClr val="1B4F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69880" y="224028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1B4F8A"/>
                </a:solidFill>
                <a:latin typeface="Arial"/>
              </a:defRPr>
            </a:pPr>
            <a:r>
              <a:t>EO March 27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98380" y="2423160"/>
            <a:ext cx="233172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B4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89820" y="247802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1B4F8A"/>
                </a:solidFill>
                <a:latin typeface="Arial"/>
              </a:defRPr>
            </a:pPr>
            <a:r>
              <a:t>Existing Users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9820" y="2679192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1E293B"/>
                </a:solidFill>
                <a:latin typeface="Arial"/>
              </a:defRPr>
            </a:pPr>
            <a:r>
              <a:t>Deprecation of old Open API (OAPI)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9820" y="299008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1">
                <a:solidFill>
                  <a:srgbClr val="64748B"/>
                </a:solidFill>
                <a:latin typeface="Arial"/>
              </a:defRPr>
            </a:pPr>
            <a:r>
              <a:t>End of deprecation period for old OAPI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5806440"/>
            <a:ext cx="201168" cy="201168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5769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Arial"/>
              </a:defRPr>
            </a:pPr>
            <a:r>
              <a:t>New Users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5806440"/>
            <a:ext cx="201168" cy="201168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42048" y="5769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1E293B"/>
                </a:solidFill>
                <a:latin typeface="Arial"/>
              </a:defRPr>
            </a:pPr>
            <a:r>
              <a:t>Existing Users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172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1">
                <a:solidFill>
                  <a:srgbClr val="1B4F8A"/>
                </a:solidFill>
                <a:latin typeface="Arial"/>
              </a:defRPr>
            </a:pPr>
            <a:r>
              <a:t>Guesty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 i="0">
                <a:solidFill>
                  <a:srgbClr val="1E293B"/>
                </a:solidFill>
                <a:latin typeface="Arial"/>
              </a:defRPr>
            </a:pPr>
            <a:r>
              <a:t>Reservation Migration — Phase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046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  <a:latin typeface="Arial"/>
              </a:defRPr>
            </a:pPr>
            <a:r>
              <a:t>Jun 15 – Dec 31, 2026 · ~35K accounts · ~54M reservations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11430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Jun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Mar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2140" y="11430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64748B"/>
                </a:solidFill>
                <a:latin typeface="Arial"/>
              </a:defRPr>
            </a:pPr>
            <a:r>
              <a:t>Jan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50876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2E9E5B"/>
                </a:solidFill>
                <a:latin typeface="Arial"/>
              </a:defRPr>
            </a:pPr>
            <a:r>
              <a:t>Ramp-up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856232"/>
            <a:ext cx="9829800" cy="12801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88622" y="1856232"/>
            <a:ext cx="1589637" cy="128016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1411" y="17647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2E9E5B"/>
                </a:solidFill>
                <a:latin typeface="Arial"/>
              </a:defRPr>
            </a:pPr>
            <a:r>
              <a:t>11,509 accts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011680"/>
            <a:ext cx="9829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  <a:latin typeface="Arial"/>
              </a:defRPr>
            </a:pPr>
            <a:r>
              <a:t>11,509 accounts · 7,090,000 reservations · 142,000 res/day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" y="246888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1B4F8A"/>
                </a:solidFill>
                <a:latin typeface="Arial"/>
              </a:defRPr>
            </a:pPr>
            <a:r>
              <a:t>Steady Growth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816352"/>
            <a:ext cx="9829800" cy="12801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701" y="2816352"/>
            <a:ext cx="1589638" cy="128016"/>
          </a:xfrm>
          <a:prstGeom prst="rect">
            <a:avLst/>
          </a:prstGeom>
          <a:solidFill>
            <a:srgbClr val="1B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73491" y="27249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1B4F8A"/>
                </a:solidFill>
                <a:latin typeface="Arial"/>
              </a:defRPr>
            </a:pPr>
            <a:r>
              <a:t>20,022 accts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71800"/>
            <a:ext cx="9829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  <a:latin typeface="Arial"/>
              </a:defRPr>
            </a:pPr>
            <a:r>
              <a:t>8,513 accounts · 11,360,000 reservations · 227,200 res/day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" y="342900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D97706"/>
                </a:solidFill>
                <a:latin typeface="Arial"/>
              </a:defRPr>
            </a:pPr>
            <a:r>
              <a:t>Acceleration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3776472"/>
            <a:ext cx="9829800" cy="12801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2780" y="3776472"/>
            <a:ext cx="1589638" cy="1280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5570" y="36850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D97706"/>
                </a:solidFill>
                <a:latin typeface="Arial"/>
              </a:defRPr>
            </a:pPr>
            <a:r>
              <a:t>27,711 accts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31920"/>
            <a:ext cx="9829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  <a:latin typeface="Arial"/>
              </a:defRPr>
            </a:pPr>
            <a:r>
              <a:t>7,689 accounts · 15,640,000 reservations · 312,800 res/day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" y="4389120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7C3AED"/>
                </a:solidFill>
                <a:latin typeface="Arial"/>
              </a:defRPr>
            </a:pPr>
            <a:r>
              <a:t>Full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736592"/>
            <a:ext cx="9829800" cy="128016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54859" y="4736592"/>
            <a:ext cx="1589638" cy="12801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649" y="46451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C3AED"/>
                </a:solidFill>
                <a:latin typeface="Arial"/>
              </a:defRPr>
            </a:pPr>
            <a:r>
              <a:t>35,001 accts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892040"/>
            <a:ext cx="9829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4748B"/>
                </a:solidFill>
                <a:latin typeface="Arial"/>
              </a:defRPr>
            </a:pPr>
            <a:r>
              <a:t>7,290 accounts · 19,910,000 reservations · 398,200 res/day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1">
                <a:solidFill>
                  <a:srgbClr val="1B4F8A"/>
                </a:solidFill>
                <a:latin typeface="Arial"/>
              </a:defRPr>
            </a:pPr>
            <a:r>
              <a:t>Guesty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E293B"/>
                </a:solidFill>
                <a:latin typeface="Arial"/>
              </a:defRPr>
            </a:pPr>
            <a:r>
              <a:t>Full Program Timeline — Data (Editable)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4748B"/>
                </a:solidFill>
                <a:latin typeface="Arial"/>
              </a:defRPr>
            </a:pPr>
            <a:r>
              <a:t>Edit cells below, then update the visual slides to match.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3000"/>
          <a:ext cx="108813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1097280"/>
                <a:gridCol w="2560320"/>
                <a:gridCol w="3840480"/>
                <a:gridCol w="822960"/>
              </a:tblGrid>
              <a:tr h="279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Program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Track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Milestone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B4F8A"/>
                    </a:solidFill>
                  </a:tcPr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Migration kickoff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1 · Planned cumulative: 500 · Actual: 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Actual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Jun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LITE + SMB rollout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2 · Planned cumulative: 1,097 · Actual: 1,632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Actual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Reservation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Ramp-up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6/15/2026 – 8/3/2026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Ramp-up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11,509 accounts · 7,090,000 reservations · 142,000 res/day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Jun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Accelerated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3 · Planned cumulative: 2,650 · Actual: 1,944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Actual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Jun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Mid-Market onboarding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4 · Planned cumulative: 4,200 · Actual: 2,493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Actual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6/22/2026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Current cumulative (as of snapshot)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2,493 accounts migrated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Actual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Jun 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Full segment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5 · Planned cumulative: 5,800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Open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New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Early 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Block API usage by registration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By registration date, block API usage for new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Jul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GA readiness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Week 6 · Planned cumulative: 7,500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Near-term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7/13/2026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Near-term goal (8,500 accounts)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Target cumulative migrated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Reservation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Steady Growth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8/4/2026 – 9/22/2026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Steady Growth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8,513 accounts · 11,360,000 reservations · 227,200 res/day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Open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Beginning of Sept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Automated email to migrated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Start sending automated email to migrated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Open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End of September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Communication to all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Sending communication to all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Reservation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Acceleration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9/23/2026 – 11/11/2026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Acceleration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7,689 accounts · 15,640,000 reservations · 312,800 res/day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Reservation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Full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11/12/2026 – 12/31/2026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Full Speed 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7,290 accounts · 19,910,000 reservations · 398,200 res/day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Account Migration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Full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12/31/2026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Full program (~35,001 accounts)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End of reservation migration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  <a:tr h="279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Open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Existing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EO March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Deprecation of old Open API (OAPI)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End of deprecation period for old OAPI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