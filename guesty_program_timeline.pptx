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  <a:latin typeface="Arial"/>
              </a:defRPr>
            </a:pPr>
            <a:r>
              <a:t>Open API — Milestone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Jul 2026 → Mar 2027 · Click any text to edit after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234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234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Mar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2140" y="12344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Jan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6916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2E9E5B"/>
                </a:solidFill>
                <a:latin typeface="Arial"/>
              </a:defRPr>
            </a:pPr>
            <a:r>
              <a:t>New</a:t>
            </a:r>
            <a:br/>
            <a:r>
              <a:t>Users</a:t>
            </a:r>
          </a:p>
        </p:txBody>
      </p:sp>
      <p:sp>
        <p:nvSpPr>
          <p:cNvPr id="8" name="Oval 7"/>
          <p:cNvSpPr/>
          <p:nvPr/>
        </p:nvSpPr>
        <p:spPr>
          <a:xfrm>
            <a:off x="2125391" y="1892808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4767" y="16184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E9E5B"/>
                </a:solidFill>
                <a:latin typeface="Arial"/>
              </a:defRPr>
            </a:pPr>
            <a:r>
              <a:t>Early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3287" y="2103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E293B"/>
                </a:solidFill>
                <a:latin typeface="Arial"/>
              </a:defRPr>
            </a:pPr>
            <a:r>
              <a:t>Block API usage by registration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2788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B4F8A"/>
                </a:solidFill>
                <a:latin typeface="Arial"/>
              </a:defRPr>
            </a:pPr>
            <a:r>
              <a:t>Existing</a:t>
            </a:r>
            <a:br/>
            <a:r>
              <a:t>Users</a:t>
            </a:r>
          </a:p>
        </p:txBody>
      </p:sp>
      <p:sp>
        <p:nvSpPr>
          <p:cNvPr id="12" name="Oval 11"/>
          <p:cNvSpPr/>
          <p:nvPr/>
        </p:nvSpPr>
        <p:spPr>
          <a:xfrm>
            <a:off x="4136769" y="2990088"/>
            <a:ext cx="164592" cy="164592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6145" y="2715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  <a:latin typeface="Arial"/>
              </a:defRPr>
            </a:pPr>
            <a:r>
              <a:t>Beginning of Sept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4665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E293B"/>
                </a:solidFill>
                <a:latin typeface="Arial"/>
              </a:defRPr>
            </a:pPr>
            <a:r>
              <a:t>Automated email to migrated users</a:t>
            </a:r>
          </a:p>
        </p:txBody>
      </p:sp>
      <p:sp>
        <p:nvSpPr>
          <p:cNvPr id="15" name="Oval 14"/>
          <p:cNvSpPr/>
          <p:nvPr/>
        </p:nvSpPr>
        <p:spPr>
          <a:xfrm>
            <a:off x="4818043" y="2990088"/>
            <a:ext cx="164592" cy="164592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7419" y="2715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  <a:latin typeface="Arial"/>
              </a:defRPr>
            </a:pPr>
            <a:r>
              <a:t>End of September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5939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E293B"/>
                </a:solidFill>
                <a:latin typeface="Arial"/>
              </a:defRPr>
            </a:pPr>
            <a:r>
              <a:t>Communication to all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10852177" y="2990088"/>
            <a:ext cx="164592" cy="164592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1553" y="2715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B4F8A"/>
                </a:solidFill>
                <a:latin typeface="Arial"/>
              </a:defRPr>
            </a:pPr>
            <a:r>
              <a:t>EO March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20073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E293B"/>
                </a:solidFill>
                <a:latin typeface="Arial"/>
              </a:defRPr>
            </a:pPr>
            <a:r>
              <a:t>Deprecation of old Open API (OAPI)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9E5B"/>
                </a:solidFill>
                <a:latin typeface="Arial"/>
              </a:defRPr>
            </a:pPr>
            <a:r>
              <a:t>New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Early Q3 — Block API by registration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43484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B4F8A"/>
                </a:solidFill>
                <a:latin typeface="Arial"/>
              </a:defRPr>
            </a:pPr>
            <a:r>
              <a:t>Existing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  <a:latin typeface="Arial"/>
              </a:defRPr>
            </a:pPr>
            <a:r>
              <a:t>Sept emails → Sept comms → Mar 27 OAPI deprecation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1B4F8A"/>
                </a:solidFill>
                <a:latin typeface="Arial"/>
              </a:defRPr>
            </a:pPr>
            <a:r>
              <a:t>Guesty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  <a:latin typeface="Arial"/>
              </a:defRPr>
            </a:pPr>
            <a:r>
              <a:t>Reservation Migration — Phase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Jun 15 – Dec 31, 2026 · ~35K accounts · ~54M 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Mar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2140" y="11430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Jan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5087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2E9E5B"/>
                </a:solidFill>
                <a:latin typeface="Arial"/>
              </a:defRPr>
            </a:pPr>
            <a:r>
              <a:t>Ramp-up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856232"/>
            <a:ext cx="9829800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8622" y="1856232"/>
            <a:ext cx="1589637" cy="128016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411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E9E5B"/>
                </a:solidFill>
                <a:latin typeface="Arial"/>
              </a:defRPr>
            </a:pPr>
            <a:r>
              <a:t>11,509 accts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Arial"/>
              </a:defRPr>
            </a:pPr>
            <a:r>
              <a:t>11,509 accounts · 7,090,000 reservations · 142,000 res/day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2468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B4F8A"/>
                </a:solidFill>
                <a:latin typeface="Arial"/>
              </a:defRPr>
            </a:pPr>
            <a:r>
              <a:t>Steady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816352"/>
            <a:ext cx="9829800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701" y="2816352"/>
            <a:ext cx="1589638" cy="12801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3491" y="27249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4F8A"/>
                </a:solidFill>
                <a:latin typeface="Arial"/>
              </a:defRPr>
            </a:pPr>
            <a:r>
              <a:t>20,022 accts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71800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Arial"/>
              </a:defRPr>
            </a:pPr>
            <a:r>
              <a:t>8,513 accounts · 11,360,000 reservations · 227,200 res/day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34290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D97706"/>
                </a:solidFill>
                <a:latin typeface="Arial"/>
              </a:defRPr>
            </a:pPr>
            <a:r>
              <a:t>Acceleration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776472"/>
            <a:ext cx="9829800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2780" y="3776472"/>
            <a:ext cx="1589638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5570" y="3685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D97706"/>
                </a:solidFill>
                <a:latin typeface="Arial"/>
              </a:defRPr>
            </a:pPr>
            <a:r>
              <a:t>27,711 accts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31920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Arial"/>
              </a:defRPr>
            </a:pPr>
            <a:r>
              <a:t>7,689 accounts · 15,640,000 reservations · 312,800 res/day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" y="43891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7C3AED"/>
                </a:solidFill>
                <a:latin typeface="Arial"/>
              </a:defRPr>
            </a:pPr>
            <a:r>
              <a:t>Full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736592"/>
            <a:ext cx="9829800" cy="12801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4859" y="4736592"/>
            <a:ext cx="1589638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649" y="46451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C3AED"/>
                </a:solidFill>
                <a:latin typeface="Arial"/>
              </a:defRPr>
            </a:pPr>
            <a:r>
              <a:t>35,001 accts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92040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Arial"/>
              </a:defRPr>
            </a:pPr>
            <a:r>
              <a:t>7,290 accounts · 19,910,000 reservations · 398,200 res/day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1B4F8A"/>
                </a:solidFill>
                <a:latin typeface="Arial"/>
              </a:defRPr>
            </a:pPr>
            <a:r>
              <a:t>Guesty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  <a:latin typeface="Arial"/>
              </a:defRPr>
            </a:pPr>
            <a:r>
              <a:t>Full Program Timeline — Data (Editable)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Edit cells below, then update the visual slides to match.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0881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097280"/>
                <a:gridCol w="2560320"/>
                <a:gridCol w="3840480"/>
                <a:gridCol w="822960"/>
              </a:tblGrid>
              <a:tr h="279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Program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Track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Migration kickoff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1 · Planned cumulative: 500 · Actual: 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LITE + SMB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2 · Planned cumulative: 1,097 · Actual: 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Reservation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Ramp-up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6/15/2026 – 8/3/2026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Ramp-up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11,509 accounts · 7,090,000 reservations · 142,000 res/day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Jun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Accelerated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3 · Planned cumulative: 2,650 · Actual: 1,944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Jun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Mid-Market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4 · Planned cumulative: 4,200 · Actual: 2,493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Current cumulative (as of snapshot)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2,493 accounts migrated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Jun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segment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5 · Planned cumulative: 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New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Early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Block API usage by registration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By registration date, block API usage for new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Jul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GA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Week 6 · Planned cumulative: 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Near-term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7/13/2026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Near-term goal (8,500 accounts)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Target cumulative migrated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Reservation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Steady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8/4/2026 – 9/22/2026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Steady Growth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8,513 accounts · 11,360,000 reservations · 227,200 res/day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Beginning of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email to migrated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Start sending automated email to migrated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End of 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Communication to 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Sending communication to 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Reservation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9/23/2026 – 11/11/2026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Acceleration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7,689 accounts · 15,640,000 reservations · 312,800 res/day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Reservation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11/12/2026 – 12/31/2026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Speed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7,290 accounts · 19,910,000 reservations · 398,200 res/day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Account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12/31/2026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program (~35,001 accounts)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End of reservation migration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EO March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Deprecation of old Open API (OAPI)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End of deprecation period for old OAPI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