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image" Target="../media/image1.png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slide" Target="slide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slide" Target="slide1.xml"/><Relationship Id="rId5" Type="http://schemas.openxmlformats.org/officeDocument/2006/relationships/slide" Target="slide4.xml"/><Relationship Id="rId6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1E293B"/>
                </a:solidFill>
              </a:defRPr>
            </a:pPr>
            <a:r>
              <a:t>Room Migration Progress — Cumulative Totals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64748B"/>
                </a:solidFill>
              </a:defRPr>
            </a:pPr>
            <a:r>
              <a:t>As of 6/22/2026  ·  Click any tab below to navigate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72287" y="169164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167" y="18288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2E9E5B"/>
                </a:solidFill>
              </a:defRPr>
            </a:pPr>
            <a:r>
              <a:t>Cumulative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" y="22402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E293B"/>
                </a:solidFill>
              </a:defRPr>
            </a:pPr>
            <a:r>
              <a:t>2,493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64748B"/>
                </a:solidFill>
              </a:defRPr>
            </a:pPr>
            <a:r>
              <a:t>All weeks combined through this date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3352647" y="169164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5527" y="18288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B4F8A"/>
                </a:solidFill>
              </a:defRPr>
            </a:pPr>
            <a:r>
              <a:t>Planned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5527" y="22402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E293B"/>
                </a:solidFill>
              </a:defRPr>
            </a:pPr>
            <a:r>
              <a:t>4,200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5527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64748B"/>
                </a:solidFill>
              </a:defRPr>
            </a:pPr>
            <a:r>
              <a:t>Plan for 6/22/2026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6233007" y="169164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8288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DC2626"/>
                </a:solidFill>
              </a:defRPr>
            </a:pPr>
            <a:r>
              <a:t>Variance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2402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E293B"/>
                </a:solidFill>
              </a:defRPr>
            </a:pPr>
            <a:r>
              <a:t>-1,707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64748B"/>
                </a:solidFill>
              </a:defRPr>
            </a:pPr>
            <a:r>
              <a:t>Actual minus planned</a:t>
            </a:r>
          </a:p>
        </p:txBody>
      </p:sp>
      <p:sp>
        <p:nvSpPr>
          <p:cNvPr id="17" name="Rounded Rectangle 16">
            <a:hlinkClick action="ppaction://hlinksldjump" r:id="rId2"/>
          </p:cNvPr>
          <p:cNvSpPr/>
          <p:nvPr/>
        </p:nvSpPr>
        <p:spPr>
          <a:xfrm>
            <a:off x="9113367" y="169164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6247" y="182880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B4F8A"/>
                </a:solidFill>
              </a:defRPr>
            </a:pPr>
            <a:r>
              <a:t>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247" y="22402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E293B"/>
                </a:solidFill>
              </a:defRPr>
            </a:pPr>
            <a:r>
              <a:t>8,500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6247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64748B"/>
                </a:solidFill>
              </a:defRPr>
            </a:pPr>
            <a:r>
              <a:t>Near-term account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20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293B"/>
                </a:solidFill>
              </a:defRPr>
            </a:pPr>
            <a:r>
              <a:t>Recent cumulative totals (click Chart for full view →)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31520" y="3886200"/>
          <a:ext cx="6858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29184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Weekly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Cumulative Total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6/1/2026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628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6/8/2026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1,632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1,097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6/15/2026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1,944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2,650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6/22/2026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2,493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4,200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3" name="Picture 22" descr="migration_actual_vs_planned_chart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520440"/>
            <a:ext cx="3657600" cy="18314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63840" y="5806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B4F8A"/>
                </a:solidFill>
              </a:defRPr>
            </a:pPr>
            <a:r>
              <a:t>▸ Click chart to enlarge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26" name="Rounded Rectangle 25">
            <a:hlinkClick action="ppaction://hlinksldjump" r:id="rId4"/>
          </p:cNvPr>
          <p:cNvSpPr/>
          <p:nvPr/>
        </p:nvSpPr>
        <p:spPr>
          <a:xfrm>
            <a:off x="2834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Chart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5120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Cumulative Data</a:t>
            </a:r>
          </a:p>
        </p:txBody>
      </p:sp>
      <p:sp>
        <p:nvSpPr>
          <p:cNvPr id="28" name="Rounded Rectangle 27">
            <a:hlinkClick action="ppaction://hlinksldjump" r:id="rId5"/>
          </p:cNvPr>
          <p:cNvSpPr/>
          <p:nvPr/>
        </p:nvSpPr>
        <p:spPr>
          <a:xfrm>
            <a:off x="7406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Weekly Detail</a:t>
            </a:r>
          </a:p>
        </p:txBody>
      </p:sp>
      <p:sp>
        <p:nvSpPr>
          <p:cNvPr id="29" name="Rounded Rectangle 28">
            <a:hlinkClick action="ppaction://hlinksldjump" r:id="rId6"/>
          </p:cNvPr>
          <p:cNvSpPr/>
          <p:nvPr/>
        </p:nvSpPr>
        <p:spPr>
          <a:xfrm>
            <a:off x="9692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Phases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1E293B"/>
                </a:solidFill>
              </a:defRPr>
            </a:pPr>
            <a:r>
              <a:t>Actual vs Planned — Cumulative Line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4748B"/>
                </a:solidFill>
              </a:defRPr>
            </a:pPr>
            <a:r>
              <a:t>Green = cumulative actual total per date  ·  Blue dashed = planned  ·  Click Data tab to edit numbers</a:t>
            </a:r>
          </a:p>
        </p:txBody>
      </p:sp>
      <p:pic>
        <p:nvPicPr>
          <p:cNvPr id="5" name="Picture 4" descr="migration_actual_vs_planne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10515600" cy="5265372"/>
          </a:xfrm>
          <a:prstGeom prst="rect">
            <a:avLst/>
          </a:prstGeom>
        </p:spPr>
      </p:pic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114800" y="5669280"/>
            <a:ext cx="3931920" cy="384048"/>
          </a:xfrm>
          <a:prstGeom prst="roundRect">
            <a:avLst>
              <a:gd name="adj" fmla="val 40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✎  Edit data on Cumulative Data slide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48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Chart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5120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Cumulative Data</a:t>
            </a:r>
          </a:p>
        </p:txBody>
      </p:sp>
      <p:sp>
        <p:nvSpPr>
          <p:cNvPr id="10" name="Rounded Rectangle 9">
            <a:hlinkClick action="ppaction://hlinksldjump" r:id="rId5"/>
          </p:cNvPr>
          <p:cNvSpPr/>
          <p:nvPr/>
        </p:nvSpPr>
        <p:spPr>
          <a:xfrm>
            <a:off x="7406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Weekly Detail</a:t>
            </a:r>
          </a:p>
        </p:txBody>
      </p:sp>
      <p:sp>
        <p:nvSpPr>
          <p:cNvPr id="11" name="Rounded Rectangle 10">
            <a:hlinkClick action="ppaction://hlinksldjump" r:id="rId6"/>
          </p:cNvPr>
          <p:cNvSpPr/>
          <p:nvPr/>
        </p:nvSpPr>
        <p:spPr>
          <a:xfrm>
            <a:off x="9692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Phases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E293B"/>
                </a:solidFill>
              </a:defRPr>
            </a:pPr>
            <a:r>
              <a:t>Cumulative Data (Editable)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</a:defRPr>
            </a:pPr>
            <a:r>
              <a:t>Edit Weekly columns — Cumulative Total = sum of all prior weeks through that date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34440"/>
          <a:ext cx="115214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10"/>
              </a:tblGrid>
              <a:tr h="339634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Wk Lite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Wk Pro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Wk Ent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Wk Total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Cum Lite</a:t>
                      </a:r>
                    </a:p>
                  </a:txBody>
                  <a:tcPr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Cum Pro</a:t>
                      </a:r>
                    </a:p>
                  </a:txBody>
                  <a:tcPr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Cum Ent</a:t>
                      </a:r>
                    </a:p>
                  </a:txBody>
                  <a:tcPr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Cum Total</a:t>
                      </a:r>
                    </a:p>
                  </a:txBody>
                  <a:tcPr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Variance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4/13/2026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4/20/2026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4/27/2026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5/4/2026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5/11/2026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5/18/2026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5/25/2026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383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6/1/2026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628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+128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6/8/2026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1632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+535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6/15/2026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1944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-706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6/22/2026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2493</a:t>
                      </a:r>
                    </a:p>
                  </a:txBody>
                  <a:tcPr>
                    <a:solidFill>
                      <a:srgbClr val="E8F5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-1,707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6/29/2026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  <a:tr h="339638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7/6/2026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548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Overview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2834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Chart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Cumulative Data</a:t>
            </a:r>
          </a:p>
        </p:txBody>
      </p:sp>
      <p:sp>
        <p:nvSpPr>
          <p:cNvPr id="9" name="Rounded Rectangle 8">
            <a:hlinkClick action="ppaction://hlinksldjump" r:id="rId4"/>
          </p:cNvPr>
          <p:cNvSpPr/>
          <p:nvPr/>
        </p:nvSpPr>
        <p:spPr>
          <a:xfrm>
            <a:off x="7406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Weekly Detail</a:t>
            </a:r>
          </a:p>
        </p:txBody>
      </p:sp>
      <p:sp>
        <p:nvSpPr>
          <p:cNvPr id="10" name="Rounded Rectangle 9">
            <a:hlinkClick action="ppaction://hlinksldjump" r:id="rId5"/>
          </p:cNvPr>
          <p:cNvSpPr/>
          <p:nvPr/>
        </p:nvSpPr>
        <p:spPr>
          <a:xfrm>
            <a:off x="9692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Phases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E293B"/>
                </a:solidFill>
              </a:defRPr>
            </a:pPr>
            <a:r>
              <a:t>Weekly Detail by Segment (Editable)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</a:defRPr>
            </a:pPr>
            <a:r>
              <a:t>Enter weekly counts only — not cumulative. Totals roll up on Cumulative Data slide.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371600"/>
          <a:ext cx="9418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/>
                <a:gridCol w="1883664"/>
                <a:gridCol w="1883664"/>
                <a:gridCol w="1883664"/>
                <a:gridCol w="1883664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Starting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Lite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Weekly Total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4/13/2026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4/20/2026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4/27/2026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5/4/2026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5/11/2026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5/18/2026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5/25/2026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6/1/2026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6/8/2026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6/15/2026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6/22/2026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549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5897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2E9E5B"/>
                </a:solidFill>
              </a:defRPr>
            </a:pPr>
            <a:r>
              <a:t>Grand cumulative total through 6/22/2026: 2,493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548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Overview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2834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Chart</a:t>
            </a:r>
          </a:p>
        </p:txBody>
      </p:sp>
      <p:sp>
        <p:nvSpPr>
          <p:cNvPr id="9" name="Rounded Rectangle 8">
            <a:hlinkClick action="ppaction://hlinksldjump" r:id="rId4"/>
          </p:cNvPr>
          <p:cNvSpPr/>
          <p:nvPr/>
        </p:nvSpPr>
        <p:spPr>
          <a:xfrm>
            <a:off x="5120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Cumulative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Weekly Detail</a:t>
            </a:r>
          </a:p>
        </p:txBody>
      </p:sp>
      <p:sp>
        <p:nvSpPr>
          <p:cNvPr id="11" name="Rounded Rectangle 10">
            <a:hlinkClick action="ppaction://hlinksldjump" r:id="rId5"/>
          </p:cNvPr>
          <p:cNvSpPr/>
          <p:nvPr/>
        </p:nvSpPr>
        <p:spPr>
          <a:xfrm>
            <a:off x="9692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Phases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E293B"/>
                </a:solidFill>
              </a:defRPr>
            </a:pPr>
            <a:r>
              <a:t>Migration Phases (Editable)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Start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End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Days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Reservations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Accounts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Res/Acct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Ramp-up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6/15/2026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8/3/2026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7,090,000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11,509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616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Steady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8/4/2026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9/22/2026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11,360,000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8,513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1335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9/23/2026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11/11/2026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15,640,000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7,689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2034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Full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11/12/2026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12/31/2026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19,910,000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7,290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2731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548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Overview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2834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Chart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5120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Cumulative Data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7406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4F8A"/>
                </a:solidFill>
              </a:defRPr>
            </a:pPr>
            <a:r>
              <a:t>Weekly Detail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6172200"/>
            <a:ext cx="2148840" cy="41148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