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WAU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Apr 15</c:v>
                </c:pt>
                <c:pt idx="1">
                  <c:v>Apr 22</c:v>
                </c:pt>
                <c:pt idx="2">
                  <c:v>Apr 29</c:v>
                </c:pt>
                <c:pt idx="3">
                  <c:v>May 6</c:v>
                </c:pt>
                <c:pt idx="4">
                  <c:v>May 13</c:v>
                </c:pt>
                <c:pt idx="5">
                  <c:v>May 20</c:v>
                </c:pt>
                <c:pt idx="6">
                  <c:v>May 27</c:v>
                </c:pt>
                <c:pt idx="7">
                  <c:v>Jun 3</c:v>
                </c:pt>
                <c:pt idx="8">
                  <c:v>Jun 10</c:v>
                </c:pt>
                <c:pt idx="9">
                  <c:v>Jun 17</c:v>
                </c:pt>
                <c:pt idx="10">
                  <c:v>Jun 24</c:v>
                </c:pt>
                <c:pt idx="11">
                  <c:v>Jul 1</c:v>
                </c:pt>
                <c:pt idx="12">
                  <c:v>Jul 8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105</c:v>
                </c:pt>
                <c:pt idx="1">
                  <c:v>112</c:v>
                </c:pt>
                <c:pt idx="2">
                  <c:v>120</c:v>
                </c:pt>
                <c:pt idx="3">
                  <c:v>135</c:v>
                </c:pt>
                <c:pt idx="4">
                  <c:v>610</c:v>
                </c:pt>
                <c:pt idx="5">
                  <c:v>945</c:v>
                </c:pt>
                <c:pt idx="6">
                  <c:v>820</c:v>
                </c:pt>
                <c:pt idx="7">
                  <c:v>760</c:v>
                </c:pt>
                <c:pt idx="8">
                  <c:v>710</c:v>
                </c:pt>
                <c:pt idx="9">
                  <c:v>680</c:v>
                </c:pt>
                <c:pt idx="10">
                  <c:v>627</c:v>
                </c:pt>
                <c:pt idx="11">
                  <c:v>705</c:v>
                </c:pt>
                <c:pt idx="12">
                  <c:v>718</c:v>
                </c:pt>
              </c:numCache>
            </c:numRef>
          </c:val>
          <c:smooth val="0"/>
          <c:spPr>
            <a:ln w="19050">
              <a:solidFill>
                <a:srgbClr val="0D9B8A"/>
              </a:solidFill>
            </a:ln>
          </c:spPr>
          <c:marker>
            <c:symbol val="circle"/>
            <c:size val="6"/>
            <c:spPr>
              <a:solidFill>
                <a:srgbClr val="0D9B8A"/>
              </a:solidFill>
              <a:ln w="12700">
                <a:solidFill>
                  <a:srgbClr val="FFFFFF"/>
                </a:solidFill>
              </a:ln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0D8"/>
            </a:solidFill>
          </a:ln>
        </c:spPr>
        <c:txPr>
          <a:bodyPr/>
          <a:lstStyle/>
          <a:p>
            <a:pPr>
              <a:defRPr sz="700">
                <a:solidFill>
                  <a:srgbClr val="64748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4A"/>
                </a:solidFill>
                <a:latin typeface="Georgia"/>
              </a:rPr>
              <a:t>Data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852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Usage summary · 3mo through Jul 15, 2026 · Coralogix + Datadog RUM · Source: Usage Report 2026-07-15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10642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B8A"/>
                </a:solidFill>
                <a:latin typeface="Calibri"/>
              </a:rPr>
              <a:t>26,082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Queries (3mo)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960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10642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B8C5A"/>
                </a:solidFill>
                <a:latin typeface="Calibri"/>
              </a:rPr>
              <a:t>4,583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600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Unique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960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0642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Calibri"/>
              </a:rPr>
              <a:t>718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600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Latest WAU (Jul 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960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106424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9A227"/>
                </a:solidFill>
                <a:latin typeface="Calibri"/>
              </a:rPr>
              <a:t>2,592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1600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June MAU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94560"/>
            <a:ext cx="745236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0C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22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4A"/>
                </a:solidFill>
                <a:latin typeface="Georgia"/>
              </a:rPr>
              <a:t>WAU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61518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Coralogix chat_response · weekly buckets · Jul 15 partial day excluded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2880360"/>
          <a:ext cx="71780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7512" y="6099048"/>
            <a:ext cx="6995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GA week May 13 → peak 945 (May 20) → June soft patch 627 → July ~700+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19456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E6F7F4"/>
          </a:solidFill>
          <a:ln w="15875">
            <a:solidFill>
              <a:srgbClr val="0D9B8A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2286000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GA → Peak (May 13–20)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52374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B8A"/>
                </a:solidFill>
                <a:latin typeface="Calibri"/>
              </a:rPr>
              <a:t>945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3347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peak WAU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944368"/>
            <a:ext cx="3319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GA week May 13 · May peak 945 · SQL gen 69.5% · CSV of SQL 83.8%.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84448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675888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June soft patch → July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1363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4A"/>
                </a:solidFill>
                <a:latin typeface="Calibri"/>
              </a:rPr>
              <a:t>718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0233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latest WAU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4334256"/>
            <a:ext cx="3319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Soft patch 627 · July ~700+ · Steady run-rate; June MAU 2.6k.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974336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>
            <a:outerShdw blurRad="50800" dist="38100" dir="2700000" algn="tl" rotWithShape="0">
              <a:srgbClr val="1A2B4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5065776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  <a:latin typeface="Calibri"/>
              </a:rPr>
              <a:t>Displacement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530352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4A"/>
                </a:solidFill>
                <a:latin typeface="Calibri"/>
              </a:rPr>
              <a:t>~6%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41324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of report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724144"/>
            <a:ext cx="3319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232 Co-Pilot vs 3,847 report-page users (30d). Opens from calendar/home/inbox — do not pitch “replaces reports”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