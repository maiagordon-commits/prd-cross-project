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5F"/>
                </a:solidFill>
                <a:latin typeface="Arial"/>
              </a:rPr>
              <a:t>Room Migration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822960"/>
            <a:ext cx="2560320" cy="347472"/>
          </a:xfrm>
          <a:prstGeom prst="roundRect">
            <a:avLst>
              <a:gd name="adj" fmla="val 12000"/>
            </a:avLst>
          </a:prstGeom>
          <a:solidFill>
            <a:srgbClr val="E4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B3A5F"/>
                </a:solidFill>
                <a:latin typeface="Arial"/>
              </a:rPr>
              <a:t>July 13 - July 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274320"/>
            <a:ext cx="3840480" cy="91440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B3A5F"/>
                </a:solidFill>
                <a:latin typeface="Arial"/>
              </a:rPr>
              <a:t>Total Accounts Created</a:t>
            </a:r>
          </a:p>
          <a:p>
            <a:pPr algn="ctr"/>
            <a:r>
              <a:rPr sz="2600" b="1">
                <a:solidFill>
                  <a:srgbClr val="1B3A5F"/>
                </a:solidFill>
                <a:latin typeface="Arial"/>
              </a:rPr>
              <a:t>2,876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5176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B3A5F"/>
                </a:solidFill>
                <a:latin typeface="Arial"/>
              </a:rPr>
              <a:t>Lite</a:t>
            </a:r>
          </a:p>
          <a:p>
            <a:pPr algn="ctr"/>
            <a:r>
              <a:rPr sz="2600" b="1">
                <a:solidFill>
                  <a:srgbClr val="1B3A5F"/>
                </a:solidFill>
                <a:latin typeface="Arial"/>
              </a:rPr>
              <a:t>156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71600"/>
            <a:ext cx="265176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B3A5F"/>
                </a:solidFill>
                <a:latin typeface="Arial"/>
              </a:rPr>
              <a:t>Pro</a:t>
            </a:r>
          </a:p>
          <a:p>
            <a:pPr algn="ctr"/>
            <a:r>
              <a:rPr sz="2600" b="1">
                <a:solidFill>
                  <a:srgbClr val="1B3A5F"/>
                </a:solidFill>
                <a:latin typeface="Arial"/>
              </a:rPr>
              <a:t>5</a:t>
            </a:r>
          </a:p>
          <a:p>
            <a:pPr algn="ctr"/>
            <a:r>
              <a:rPr sz="900" b="0">
                <a:solidFill>
                  <a:srgbClr val="6B7C93"/>
                </a:solidFill>
                <a:latin typeface="Arial"/>
              </a:rPr>
              <a:t>Out of them 0 Mid Market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265176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B3A5F"/>
                </a:solidFill>
                <a:latin typeface="Arial"/>
              </a:rPr>
              <a:t>Enterprise</a:t>
            </a:r>
          </a:p>
          <a:p>
            <a:pPr algn="ctr"/>
            <a:r>
              <a:rPr sz="2600" b="1">
                <a:solidFill>
                  <a:srgbClr val="1B3A5F"/>
                </a:solidFill>
                <a:latin typeface="Arial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1371600"/>
            <a:ext cx="2651760" cy="96012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B3A5F"/>
                </a:solidFill>
                <a:latin typeface="Arial"/>
              </a:rPr>
              <a:t>Not in Room Overview</a:t>
            </a:r>
          </a:p>
          <a:p>
            <a:pPr algn="ctr"/>
            <a:r>
              <a:rPr sz="2200" b="1">
                <a:solidFill>
                  <a:srgbClr val="1B3A5F"/>
                </a:solidFill>
                <a:latin typeface="Arial"/>
              </a:rPr>
              <a:t>2,715</a:t>
            </a:r>
          </a:p>
          <a:p>
            <a:pPr algn="ctr"/>
            <a:r>
              <a:rPr sz="900" b="0">
                <a:solidFill>
                  <a:srgbClr val="6B7C93"/>
                </a:solidFill>
                <a:latin typeface="Arial"/>
              </a:rPr>
              <a:t>161 matched</a:t>
            </a:r>
          </a:p>
        </p:txBody>
      </p:sp>
      <p:pic>
        <p:nvPicPr>
          <p:cNvPr id="10" name="Picture 9" descr="room-migration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606040"/>
            <a:ext cx="111556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5F"/>
                </a:solidFill>
                <a:latin typeface="Arial"/>
              </a:rPr>
              <a:t>Accounts Created After July 13 — Segment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C93"/>
                </a:solidFill>
                <a:latin typeface="Arial"/>
              </a:rPr>
              <a:t>All created accounts: 2,876  ·  Found in Room Overview (Package/Segment available): 161  ·  Not in Room Overview: 2,715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1155680" cy="457200"/>
          </a:xfrm>
          <a:prstGeom prst="roundRect">
            <a:avLst>
              <a:gd name="adj" fmla="val 12000"/>
            </a:avLst>
          </a:prstGeom>
          <a:solidFill>
            <a:srgbClr val="D9E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Arial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Arial"/>
              </a:rPr>
              <a:t>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Arial"/>
              </a:rPr>
              <a:t>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Arial"/>
              </a:rPr>
              <a:t>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Arial"/>
              </a:rPr>
              <a:t>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536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Arial"/>
              </a:rPr>
              <a:t>Not in Room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B3A5F"/>
                </a:solidFill>
                <a:latin typeface="Arial"/>
              </a:rPr>
              <a:t>Not in Room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Arial"/>
              </a:rPr>
              <a:t>2,715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0574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B3A5F"/>
                </a:solidFill>
                <a:latin typeface="Arial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574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B3A5F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0574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B3A5F"/>
                </a:solidFill>
                <a:latin typeface="Arial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20574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B3A5F"/>
                </a:solidFill>
                <a:latin typeface="Arial"/>
              </a:rPr>
              <a:t>2,715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4414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B3A5F"/>
                </a:solidFill>
                <a:latin typeface="Arial"/>
              </a:rPr>
              <a:t>SMB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414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Arial"/>
              </a:rPr>
              <a:t>161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4414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B3A5F"/>
                </a:solidFill>
                <a:latin typeface="Arial"/>
              </a:rPr>
              <a:t>156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4414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B3A5F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4414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B3A5F"/>
                </a:solidFill>
                <a:latin typeface="Arial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4414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B3A5F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96265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Arial"/>
              </a:rPr>
              <a:t>TOTAL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9626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5F"/>
                </a:solidFill>
                <a:latin typeface="Arial"/>
              </a:rPr>
              <a:t>2,876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