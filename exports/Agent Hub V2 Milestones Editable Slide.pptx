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ackground panel"/>
          <p:cNvSpPr txBox="1"/>
          <p:nvPr/>
        </p:nvSpPr>
        <p:spPr>
          <a:xfrm>
            <a:off x="274320" y="228600"/>
            <a:ext cx="11658600" cy="6309360"/>
          </a:xfrm>
          <a:prstGeom prst="rect">
            <a:avLst/>
          </a:prstGeom>
          <a:solidFill>
            <a:srgbClr val="F4F1EA"/>
          </a:solidFill>
          <a:ln w="12700">
            <a:solidFill>
              <a:srgbClr val="D8D4C9"/>
            </a:solidFill>
          </a:ln>
        </p:spPr>
        <p:txBody>
          <a:bodyPr wrap="square" lIns="91440" tIns="45720" rIns="91440" bIns="45720"/>
          <a:lstStyle/>
          <a:p>
            <a:pPr algn="l"/>
          </a:p>
        </p:txBody>
      </p:sp>
      <p:sp>
        <p:nvSpPr>
          <p:cNvPr id="3" name="Title"/>
          <p:cNvSpPr txBox="1"/>
          <p:nvPr/>
        </p:nvSpPr>
        <p:spPr>
          <a:xfrm>
            <a:off x="640080" y="50292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900" b="1">
                <a:solidFill>
                  <a:srgbClr val="07105F"/>
                </a:solidFill>
                <a:latin typeface="Arial"/>
              </a:rPr>
              <a:t>Agent hub milestones</a:t>
            </a:r>
            <a:endParaRPr lang="en-US" sz="1900"/>
          </a:p>
        </p:txBody>
      </p:sp>
      <p:sp>
        <p:nvSpPr>
          <p:cNvPr id="4" name="Subtitle"/>
          <p:cNvSpPr txBox="1"/>
          <p:nvPr/>
        </p:nvSpPr>
        <p:spPr>
          <a:xfrm>
            <a:off x="640080" y="804672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50" b="0">
                <a:solidFill>
                  <a:srgbClr val="07105F"/>
                </a:solidFill>
                <a:latin typeface="Arial"/>
              </a:rPr>
              <a:t>30+ agents + 15 RM agents | 17 accounts currently have access</a:t>
            </a:r>
            <a:endParaRPr lang="en-US" sz="1050"/>
          </a:p>
        </p:txBody>
      </p:sp>
      <p:sp>
        <p:nvSpPr>
          <p:cNvPr id="5" name="V2 Scope Box"/>
          <p:cNvSpPr txBox="1"/>
          <p:nvPr/>
        </p:nvSpPr>
        <p:spPr>
          <a:xfrm>
            <a:off x="594360" y="1143000"/>
            <a:ext cx="10972800" cy="1325880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9BC2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350" b="1">
                <a:solidFill>
                  <a:srgbClr val="07105F"/>
                </a:solidFill>
                <a:latin typeface="Arial"/>
              </a:rPr>
              <a:t>Agent Hub V2 scope — agent improvements</a:t>
            </a:r>
            <a:endParaRPr lang="en-US" sz="1350"/>
          </a:p>
        </p:txBody>
      </p:sp>
      <p:sp>
        <p:nvSpPr>
          <p:cNvPr id="6" name="V2 Bullets Left"/>
          <p:cNvSpPr txBox="1"/>
          <p:nvPr/>
        </p:nvSpPr>
        <p:spPr>
          <a:xfrm>
            <a:off x="868680" y="1490472"/>
            <a:ext cx="5029200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50" b="0">
                <a:solidFill>
                  <a:srgbClr val="07105F"/>
                </a:solidFill>
                <a:latin typeface="Arial"/>
              </a:rPr>
              <a:t>• Agent decision as a status</a:t>
            </a:r>
            <a:endParaRPr lang="en-US" sz="950"/>
          </a:p>
          <a:p>
            <a:pPr algn="l"/>
            <a:r>
              <a:rPr lang="en-US" sz="950" b="0">
                <a:solidFill>
                  <a:srgbClr val="07105F"/>
                </a:solidFill>
                <a:latin typeface="Arial"/>
              </a:rPr>
              <a:t>• Hyperlinks to artifacts in agent output</a:t>
            </a:r>
            <a:endParaRPr lang="en-US" sz="950"/>
          </a:p>
          <a:p>
            <a:pPr algn="l"/>
            <a:r>
              <a:rPr lang="en-US" sz="950" b="0">
                <a:solidFill>
                  <a:srgbClr val="07105F"/>
                </a:solidFill>
                <a:latin typeface="Arial"/>
              </a:rPr>
              <a:t>• Scheduled runs according to account timezone</a:t>
            </a:r>
            <a:endParaRPr lang="en-US" sz="950"/>
          </a:p>
        </p:txBody>
      </p:sp>
      <p:sp>
        <p:nvSpPr>
          <p:cNvPr id="7" name="V2 Bullets Right"/>
          <p:cNvSpPr txBox="1"/>
          <p:nvPr/>
        </p:nvSpPr>
        <p:spPr>
          <a:xfrm>
            <a:off x="5806440" y="1490472"/>
            <a:ext cx="3840480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50" b="0">
                <a:solidFill>
                  <a:srgbClr val="07105F"/>
                </a:solidFill>
                <a:latin typeface="Arial"/>
              </a:rPr>
              <a:t>• Unified UI including Rev Center &amp; Accounting</a:t>
            </a:r>
            <a:endParaRPr lang="en-US" sz="950"/>
          </a:p>
          <a:p>
            <a:pPr algn="l"/>
            <a:r>
              <a:rPr lang="en-US" sz="950" b="0">
                <a:solidFill>
                  <a:srgbClr val="07105F"/>
                </a:solidFill>
                <a:latin typeface="Arial"/>
              </a:rPr>
              <a:t>• Agent Hub role toggle</a:t>
            </a:r>
            <a:endParaRPr lang="en-US" sz="950"/>
          </a:p>
        </p:txBody>
      </p:sp>
      <p:sp>
        <p:nvSpPr>
          <p:cNvPr id="8" name="Access Badge"/>
          <p:cNvSpPr txBox="1"/>
          <p:nvPr/>
        </p:nvSpPr>
        <p:spPr>
          <a:xfrm>
            <a:off x="9829800" y="1435608"/>
            <a:ext cx="1417320" cy="713232"/>
          </a:xfrm>
          <a:prstGeom prst="roundRect">
            <a:avLst/>
          </a:prstGeom>
          <a:solidFill>
            <a:srgbClr val="B5D2FF"/>
          </a:solidFill>
          <a:ln w="12700">
            <a:solidFill>
              <a:srgbClr val="7EA8F8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000" b="1">
                <a:solidFill>
                  <a:srgbClr val="07105F"/>
                </a:solidFill>
                <a:latin typeface="Arial"/>
              </a:rPr>
              <a:t>Current access</a:t>
            </a:r>
            <a:endParaRPr lang="en-US" sz="1000"/>
          </a:p>
          <a:p>
            <a:pPr algn="ctr"/>
            <a:r>
              <a:rPr lang="en-US" sz="1000" b="1">
                <a:solidFill>
                  <a:srgbClr val="07105F"/>
                </a:solidFill>
                <a:latin typeface="Arial"/>
              </a:rPr>
              <a:t>17 accounts</a:t>
            </a:r>
            <a:endParaRPr lang="en-US" sz="1000"/>
          </a:p>
        </p:txBody>
      </p:sp>
      <p:sp>
        <p:nvSpPr>
          <p:cNvPr id="9" name="Card 18–22.6"/>
          <p:cNvSpPr txBox="1"/>
          <p:nvPr/>
        </p:nvSpPr>
        <p:spPr>
          <a:xfrm>
            <a:off x="868680" y="2971800"/>
            <a:ext cx="2148840" cy="1536192"/>
          </a:xfrm>
          <a:prstGeom prst="roundRect">
            <a:avLst/>
          </a:prstGeom>
          <a:solidFill>
            <a:srgbClr val="B5D2FF"/>
          </a:solidFill>
          <a:ln w="12700">
            <a:solidFill>
              <a:srgbClr val="86B6FF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18–22.6</a:t>
            </a:r>
            <a:endParaRPr lang="en-US" sz="1150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Ongoing Pilot</a:t>
            </a:r>
            <a:endParaRPr lang="en-US" sz="1150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~22 agents +</a:t>
            </a:r>
            <a:endParaRPr lang="en-US" sz="1150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13 RM agents</a:t>
            </a:r>
            <a:endParaRPr lang="en-US" sz="1150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17 accounts</a:t>
            </a:r>
            <a:endParaRPr lang="en-US" sz="1150"/>
          </a:p>
        </p:txBody>
      </p:sp>
      <p:sp>
        <p:nvSpPr>
          <p:cNvPr id="10" name="Card 1.7–2.7"/>
          <p:cNvSpPr txBox="1"/>
          <p:nvPr/>
        </p:nvSpPr>
        <p:spPr>
          <a:xfrm>
            <a:off x="3154680" y="2971800"/>
            <a:ext cx="2148840" cy="1536192"/>
          </a:xfrm>
          <a:prstGeom prst="roundRect">
            <a:avLst/>
          </a:prstGeom>
          <a:solidFill>
            <a:srgbClr val="B8D7D4"/>
          </a:solidFill>
          <a:ln w="12700">
            <a:solidFill>
              <a:srgbClr val="8ABAB6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1.7–2.7</a:t>
            </a:r>
            <a:endParaRPr lang="en-US" sz="1150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Beta · At Risk</a:t>
            </a:r>
            <a:endParaRPr lang="en-US" sz="1150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30* agents +</a:t>
            </a:r>
            <a:endParaRPr lang="en-US" sz="1150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15 RM agents</a:t>
            </a:r>
            <a:endParaRPr lang="en-US" sz="1150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17 &gt; 150 accounts</a:t>
            </a:r>
            <a:endParaRPr lang="en-US" sz="1150"/>
          </a:p>
          <a:p>
            <a:pPr algn="ctr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(including 2 ENT</a:t>
            </a:r>
            <a:endParaRPr lang="en-US" sz="1150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accounts TBD)</a:t>
            </a:r>
            <a:endParaRPr lang="en-US" sz="1150"/>
          </a:p>
        </p:txBody>
      </p:sp>
      <p:sp>
        <p:nvSpPr>
          <p:cNvPr id="11" name="Card 3.7–6.7"/>
          <p:cNvSpPr txBox="1"/>
          <p:nvPr/>
        </p:nvSpPr>
        <p:spPr>
          <a:xfrm>
            <a:off x="5440680" y="2971800"/>
            <a:ext cx="2148840" cy="1536192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A9C5FF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3.7–6.7</a:t>
            </a:r>
            <a:endParaRPr lang="en-US" sz="1150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Beta · At Risk</a:t>
            </a:r>
            <a:endParaRPr lang="en-US" sz="1150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30* agents +</a:t>
            </a:r>
            <a:endParaRPr lang="en-US" sz="1150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15 RM agents</a:t>
            </a:r>
            <a:endParaRPr lang="en-US" sz="1150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150 &gt; 500</a:t>
            </a:r>
            <a:endParaRPr lang="en-US" sz="1150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accounts</a:t>
            </a:r>
            <a:endParaRPr lang="en-US" sz="1150"/>
          </a:p>
          <a:p>
            <a:pPr algn="ctr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(including 2 ENT</a:t>
            </a:r>
            <a:endParaRPr lang="en-US" sz="1150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accounts TBD)</a:t>
            </a:r>
            <a:endParaRPr lang="en-US" sz="1150"/>
          </a:p>
        </p:txBody>
      </p:sp>
      <p:sp>
        <p:nvSpPr>
          <p:cNvPr id="12" name="Card 8.7"/>
          <p:cNvSpPr txBox="1"/>
          <p:nvPr/>
        </p:nvSpPr>
        <p:spPr>
          <a:xfrm>
            <a:off x="7726679" y="2971800"/>
            <a:ext cx="2148840" cy="1536192"/>
          </a:xfrm>
          <a:prstGeom prst="roundRect">
            <a:avLst/>
          </a:prstGeom>
          <a:solidFill>
            <a:srgbClr val="B5D2FF"/>
          </a:solidFill>
          <a:ln w="12700">
            <a:solidFill>
              <a:srgbClr val="86B6FF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8.7</a:t>
            </a:r>
            <a:endParaRPr lang="en-US" sz="1150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GA</a:t>
            </a:r>
            <a:endParaRPr lang="en-US" sz="1150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30* agents +</a:t>
            </a:r>
            <a:endParaRPr lang="en-US" sz="1150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15 RM agents</a:t>
            </a:r>
            <a:endParaRPr lang="en-US" sz="1150"/>
          </a:p>
          <a:p>
            <a:pPr algn="ctr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(including 2 ENT</a:t>
            </a:r>
            <a:endParaRPr lang="en-US" sz="1150"/>
          </a:p>
          <a:p>
            <a:pPr algn="ctr"/>
            <a:r>
              <a:rPr lang="en-US" sz="1150" b="1">
                <a:solidFill>
                  <a:srgbClr val="07105F"/>
                </a:solidFill>
                <a:latin typeface="Arial"/>
              </a:rPr>
              <a:t>accounts TBD)</a:t>
            </a:r>
            <a:endParaRPr lang="en-US" sz="1150"/>
          </a:p>
        </p:txBody>
      </p:sp>
      <p:sp>
        <p:nvSpPr>
          <p:cNvPr id="13" name="Readiness Risk"/>
          <p:cNvSpPr txBox="1"/>
          <p:nvPr/>
        </p:nvSpPr>
        <p:spPr>
          <a:xfrm>
            <a:off x="685800" y="480060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0">
                <a:solidFill>
                  <a:srgbClr val="07105F"/>
                </a:solidFill>
                <a:latin typeface="Arial"/>
              </a:rPr>
              <a:t>*Readiness risk</a:t>
            </a:r>
            <a:endParaRPr lang="en-US" sz="900"/>
          </a:p>
          <a:p>
            <a:pPr algn="l"/>
            <a:r>
              <a:rPr lang="en-US" sz="900" b="0">
                <a:solidFill>
                  <a:srgbClr val="07105F"/>
                </a:solidFill>
                <a:latin typeface="Arial"/>
              </a:rPr>
              <a:t>Pilot/GA may launch with fewer than 30 agents, as some agents may need longer to test.</a:t>
            </a:r>
            <a:endParaRPr lang="en-US" sz="900"/>
          </a:p>
        </p:txBody>
      </p:sp>
      <p:sp>
        <p:nvSpPr>
          <p:cNvPr id="14" name="Guesty Footer"/>
          <p:cNvSpPr txBox="1"/>
          <p:nvPr/>
        </p:nvSpPr>
        <p:spPr>
          <a:xfrm>
            <a:off x="640080" y="59893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600" b="1">
                <a:solidFill>
                  <a:srgbClr val="07105F"/>
                </a:solidFill>
                <a:latin typeface="Arial"/>
              </a:rPr>
              <a:t>Guesty</a:t>
            </a:r>
            <a:endParaRPr lang="en-US" sz="600"/>
          </a:p>
        </p:txBody>
      </p:sp>
      <p:sp>
        <p:nvSpPr>
          <p:cNvPr id="15" name="Page Number"/>
          <p:cNvSpPr txBox="1"/>
          <p:nvPr/>
        </p:nvSpPr>
        <p:spPr>
          <a:xfrm>
            <a:off x="11475720" y="598932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550" b="1">
                <a:solidFill>
                  <a:srgbClr val="07105F"/>
                </a:solidFill>
                <a:latin typeface="Arial"/>
              </a:rPr>
              <a:t>3</a:t>
            </a:r>
            <a:endParaRPr lang="en-US" sz="5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esty">
  <a:themeElements>
    <a:clrScheme name="Guesty">
      <a:dk1>
        <a:srgbClr val="07105F"/>
      </a:dk1>
      <a:lt1>
        <a:srgbClr val="FFFFFF"/>
      </a:lt1>
      <a:dk2>
        <a:srgbClr val="1F2937"/>
      </a:dk2>
      <a:lt2>
        <a:srgbClr val="F4F1EA"/>
      </a:lt2>
      <a:accent1>
        <a:srgbClr val="9BC2FF"/>
      </a:accent1>
      <a:accent2>
        <a:srgbClr val="B8D7D4"/>
      </a:accent2>
      <a:accent3>
        <a:srgbClr val="FFB020"/>
      </a:accent3>
      <a:accent4>
        <a:srgbClr val="EEF7FF"/>
      </a:accent4>
      <a:accent5>
        <a:srgbClr val="B5D2FF"/>
      </a:accent5>
      <a:accent6>
        <a:srgbClr val="07105F"/>
      </a:accent6>
      <a:hlink>
        <a:srgbClr val="0563C1"/>
      </a:hlink>
      <a:folHlink>
        <a:srgbClr val="954F72"/>
      </a:folHlink>
    </a:clrScheme>
    <a:fontScheme name="Arial">
      <a:majorFont>
        <a:latin typeface="Arial"/>
      </a:majorFont>
      <a:minorFont>
        <a:latin typeface="Arial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Cursor</Application>
  <PresentationFormat>On-screen Show (16:9)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Hub V2 Milestones</dc:title>
  <dc:creator>Cursor agent</dc:creator>
  <cp:lastModifiedBy>Cursor agent</cp:lastModifiedBy>
  <dcterms:created xsi:type="dcterms:W3CDTF">2026-06-28T08:14:36Z</dcterms:created>
  <dcterms:modified xsi:type="dcterms:W3CDTF">2026-06-28T08:14:36Z</dcterms:modified>
</cp:coreProperties>
</file>