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Arial"/>
              </a:rPr>
              <a:t>City Tax — Challenges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3200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Status update  ·  EU regulatory readiness &amp; product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24128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10972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789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rial"/>
              </a:rPr>
              <a:t>COUNTRY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DC2626"/>
                </a:solidFill>
                <a:latin typeface="Arial"/>
              </a:rPr>
              <a:t>Italy · 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389888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Spain · 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389888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D97706"/>
                </a:solidFill>
                <a:latin typeface="Arial"/>
              </a:rPr>
              <a:t>France ·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353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rial"/>
              </a:rPr>
              <a:t>Focus markets for dynamic PMC city-tax 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0312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03120"/>
            <a:ext cx="361188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212848"/>
            <a:ext cx="3611880" cy="65836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677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01  CURRENT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Arial"/>
              </a:rPr>
              <a:t>Gaps &amp;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017520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Fragmented EU Rules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Each EU country has its own city tax requirements — no single shared model.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Product Capability Gap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Product must encode tax regulation per priority country and allow dynamic setup for PMCs.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10312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103120"/>
            <a:ext cx="361188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2212848"/>
            <a:ext cx="361188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2677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rial"/>
              </a:rPr>
              <a:t>02 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Arial"/>
              </a:rPr>
              <a:t>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3017520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EU Tax Advisor Partnership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Partnership is closing with an EU tax advisor to map tax requirements across priority countries.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Client Discovery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Product will interview EU clients to learn how they currently handle city tax setup.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10312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2103120"/>
            <a:ext cx="36118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2212848"/>
            <a:ext cx="3611880" cy="658368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2677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Arial"/>
              </a:rPr>
              <a:t>03 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Arial"/>
              </a:rPr>
              <a:t>Going Forward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3017520"/>
            <a:ext cx="32918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Roadmap Priority — Q4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Initiative is currently a Q4 candidate.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Unblock Priority Markets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Target: unlock Italy, Spain &amp; France readiness in Q1 2027.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rial"/>
              </a:rPr>
              <a:t>Guesty  ·  Confidential  ·  Product &amp; Compliance  ·  Editable Google Slides / PowerPoint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rial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C59"/>
                </a:solidFill>
                <a:latin typeface="Arial"/>
              </a:rPr>
              <a:t>City Tax — Research &amp; Decision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Working session slide — capture owners, findings, and Q4 commitment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553212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553212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Arial"/>
              </a:rPr>
              <a:t>Research Workstreams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563EB"/>
                </a:solidFill>
                <a:latin typeface="Arial"/>
              </a:rPr>
              <a:t>●  </a:t>
            </a:r>
            <a:r>
              <a:rPr sz="1300" b="1">
                <a:solidFill>
                  <a:srgbClr val="0F2C59"/>
                </a:solidFill>
                <a:latin typeface="Arial"/>
              </a:rPr>
              <a:t>A. Tax Advisor Mapping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    Close partnership with an EU tax advisor to map city-tax requirements for Italy, Spain, and France.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563EB"/>
                </a:solidFill>
                <a:latin typeface="Arial"/>
              </a:rPr>
              <a:t>●  </a:t>
            </a:r>
            <a:r>
              <a:rPr sz="1300" b="1">
                <a:solidFill>
                  <a:srgbClr val="0F2C59"/>
                </a:solidFill>
                <a:latin typeface="Arial"/>
              </a:rPr>
              <a:t>B. Client Interviews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    Product interviews with EU clients on how they currently configure and operate city tax.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2563EB"/>
                </a:solidFill>
                <a:latin typeface="Arial"/>
              </a:rPr>
              <a:t>●  </a:t>
            </a:r>
            <a:r>
              <a:rPr sz="1300" b="1">
                <a:solidFill>
                  <a:srgbClr val="0F2C59"/>
                </a:solidFill>
                <a:latin typeface="Arial"/>
              </a:rPr>
              <a:t>C. Product Implications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Arial"/>
              </a:rPr>
              <a:t>    Translate findings into regulation-per-country config + dynamic PMC setup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97280"/>
            <a:ext cx="557784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557784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Arial"/>
              </a:rPr>
              <a:t>Timeline &amp; Open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19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Q4 Candidate Initiative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Currently proposed as a Q4 roadmap priority.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Q1 2027 Market Unblock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Goal: enable priority countries (Italy critical; Spain &amp; France high) in Q1 2027.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Open Decision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    Confirm Q4 commitment, owners, and success criteria before locking roadmap.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563EB"/>
                </a:solidFill>
                <a:latin typeface="Arial"/>
              </a:rPr>
              <a:t>●  </a:t>
            </a:r>
            <a:r>
              <a:rPr sz="1200" b="1">
                <a:solidFill>
                  <a:srgbClr val="0F2C59"/>
                </a:solidFill>
                <a:latin typeface="Arial"/>
              </a:rPr>
              <a:t>Dependency Note</a:t>
            </a:r>
          </a:p>
          <a:p>
            <a:pPr algn="l">
              <a:spcBef>
                <a:spcPts val="10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Arial"/>
              </a:rPr>
              <a:t>    May interact with broader tax / e-invoicing workstreams — align sequencing.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rial"/>
              </a:rPr>
              <a:t>Guesty  ·  Confidential  ·  Product &amp; Compliance  ·  Editable Google Slides / PowerPoint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65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rial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